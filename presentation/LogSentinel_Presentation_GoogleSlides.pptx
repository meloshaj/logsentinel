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LogSentinel—an intelligent, high-throughput observability platform engineered to solve one of distributed computing's toughest challenges: microservice chaos. LogSentinel ingests millions of logs in real time, extracts semantic templates without human intervention, catches unseen anomalies with unsupervised machine learning, and maps the exact cascading blast radius so engineering teams pinpoint true root causes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brings together deep expertise in distributed systems, streaming data, and machine learning: Melos led our ML modeling and threshold sweep; Leorent built our Valkey streaming buffer and Drain3 integration; Blerim engineered our interactive React 18 topology graph; Blert optimized the TimescaleDB hypertables; and Juled designed our chaos testing and capacity benchmarks.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problem: Microservice architectures promise agility, but create operational chaos. When an auth service degrades, 20 downstream services fire alerts simultaneously. SREs are overwhelmed by noise, and finding the culprit takes an hour. At $5,600 per downtime minute, companies lose millions.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is backed by empirical data: Studies confirm that 82% of outages are cascades and 67% of triage is spent locating the origin. On real failure traces—SQL injection, thread starvation, latency spikes—LogSentinel achieves a 0.959 ROC-AUC and compresses logs by 95% while keeping memory under 52 megabytes.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LogSentinel solves this with 3 pillars: Pillar 1: High-throughput ingestion buffering and Drain3 template compression. Pillar 2: Unsupervised Isolation Forests running over sliding windows, catching zero-day anomalies without human-labeled datasets. Pillar 3: A dynamic causal graph that isolates the true root cause and calculates the blast radius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FlutterForecast's phase structure, LogSentinel was delivered across 5 rigorous engineering milestones: Algorithmic research, universal protocol ingestion, ML and graph engine construction, full-stack reactive development, and chaos testing under simulated production failures.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frontend stack uses React 18 with Vite for concurrent rendering and instant HMR. TailwindCSS and Framer Motion provide an intuitive dark mode with micro-animations. For topology, Cytoscape.js and XYFlow render dynamic microservice graphs at 60 FPS with instant visual indicators.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backend, Python 3.11 and FastAPI power our asynchronous API. Valkey 8.0 streams decouple ingestion from processing, ensuring zero backpressure. TimescaleDB hypertables store billions of time-series logs with continuous aggregates, allowing rapid analytical lookups without degrading operational throughput.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data flow end-to-end: Logs arrive via OTLP or Fluent Bit into FastAPI. Instead of hitting the database synchronously, they enter an in-memory Valkey stream. Our Drain3 worker parses them into templates online. The feature extractor groups them into 60-second sliding windows. Our Isolation Forest scores the vector, and if anomalous, the NetworkX graph engine ranks which upstream service triggered the cascade in under 120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algorithmic engine has 3 components matching FlutterForecast's architecture: Component 01 is Drain3, an online tree that strips variables and creates semantic templates in sub-milliseconds. Component 02 is our 12-feature extractor tracking Shannon entropy and error acceleration. Component 03 is our Isolation Forest. Sweeping decision thresholds from -0.800 to 0.000 proved that -0.075 delivers 81.25% precision, 86.67% recall, and an outstanding 0.959 ROC-AUC.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incident strikes, the hardest question is: 'Who started it?' Downstream services fail simply because their upstream dependencies stalled. LogSentinel constructs a dynamic directed graph. By combining temporal anomaly onset with dependency topology, it pinpoints the true root-cause service, measures the blast radius, and suppresses 85% of downstream symptom alerts.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demonstrates our exact problem-solution fit: For unknown bugs, our unsupervised model catches novel anomalies without rules. For cascading outages, our causal graph silences symptom alarms and highlights the origin. And for soaring log bills, Drain3 compresses data by 95% while retaining full diagnostic detail.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live demo, we run our chaos script to simulate a realistic outage: We inject database pool exhaustion into auth-service. As payment and order services throw downstream timeouts, LogSentinel's feature worker detects the entropy anomaly within seconds. On the React dashboard, auth-service turns flashing red as the #1 root cause with a 66% blast radius.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Matching PlayMap's added value wheel, LogSentinel's ROI is evenly divided into 5 critical pillars of 20% each: A 90% reduction in MTTR; 85% suppression of alert noise; zero-rule unsupervised ML; cloud scalability handling 10k logs/sec; and continuous dynamic topology autodiscovery.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business model blends product-led open source growth with enterprise monetization: The Community Edition is free under Apache 2.0. LogSentinel Pro at $49/node unlocks our causal graph, multi-tenancy, and automated retraining. Enterprise Sentinel starts at $1,499/month, adding eBPF tracing, native Microsoft and Google SSO, air-gapped deployment, and 24/7 SLAs.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expand net retention and accelerate enterprise deployment, we offer modular boosters and advisory services: Boosters range from $199 to $499 a month for cold-storage S3 compactors and SIEM bridges. For enterprise cutovers, our team provides SRE advisory services—calibrating custom models and conducting chaos game days ranging from $2,500 to $10,000 per engagement.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our roadmap expands LogSentinel into an autonomous self-healing platform: In Q1 2027, zero-overhead eBPF kernel tracing removes the need for SDK instrumentation. In Q2, Generative AI incident post-mortems will draft post-mortems and pull requests automatically. And in Q3, our Kubernetes Operator will close the loop with automated remediation—restarting failing pods before users even notice.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so much for listening. LogSentinel is open source under Apache 2.0, with turnkey Docker Compose scripts ready to run immediately. Clone the repo, trigger our demo chaos incident, and experience the future of autonomous observability firsthand. We would now love to open the floor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80990" y="822960"/>
            <a:ext cx="1828800" cy="1828800"/>
          </a:xfrm>
          <a:prstGeom prst="roundRect">
            <a:avLst/>
          </a:prstGeom>
          <a:solidFill>
            <a:srgbClr val="10B981"/>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80990" y="1005840"/>
            <a:ext cx="1828800" cy="1371600"/>
          </a:xfrm>
          <a:prstGeom prst="rect">
            <a:avLst/>
          </a:prstGeom>
          <a:noFill/>
        </p:spPr>
        <p:txBody>
          <a:bodyPr wrap="none">
            <a:spAutoFit/>
          </a:bodyPr>
          <a:lstStyle/>
          <a:p>
            <a:pPr algn="ctr">
              <a:defRPr sz="6400" b="1">
                <a:solidFill>
                  <a:srgbClr val="070B14"/>
                </a:solidFill>
                <a:latin typeface="Trebuchet MS"/>
              </a:defRPr>
            </a:pPr>
            <a:r>
              <a:t>LS</a:t>
            </a:r>
          </a:p>
        </p:txBody>
      </p:sp>
      <p:sp>
        <p:nvSpPr>
          <p:cNvPr id="5" name="TextBox 4"/>
          <p:cNvSpPr txBox="1"/>
          <p:nvPr/>
        </p:nvSpPr>
        <p:spPr>
          <a:xfrm>
            <a:off x="914400" y="2834640"/>
            <a:ext cx="10362895" cy="822960"/>
          </a:xfrm>
          <a:prstGeom prst="rect">
            <a:avLst/>
          </a:prstGeom>
          <a:noFill/>
        </p:spPr>
        <p:txBody>
          <a:bodyPr wrap="none">
            <a:spAutoFit/>
          </a:bodyPr>
          <a:lstStyle/>
          <a:p>
            <a:pPr algn="ctr">
              <a:defRPr sz="4800" b="1">
                <a:solidFill>
                  <a:srgbClr val="FFFFFF"/>
                </a:solidFill>
                <a:latin typeface="Trebuchet MS"/>
              </a:defRPr>
            </a:pPr>
            <a:r>
              <a:t>LogSentinel</a:t>
            </a:r>
          </a:p>
        </p:txBody>
      </p:sp>
      <p:sp>
        <p:nvSpPr>
          <p:cNvPr id="6" name="TextBox 5"/>
          <p:cNvSpPr txBox="1"/>
          <p:nvPr/>
        </p:nvSpPr>
        <p:spPr>
          <a:xfrm>
            <a:off x="1371600" y="3657600"/>
            <a:ext cx="9448495" cy="731520"/>
          </a:xfrm>
          <a:prstGeom prst="rect">
            <a:avLst/>
          </a:prstGeom>
          <a:noFill/>
        </p:spPr>
        <p:txBody>
          <a:bodyPr wrap="square">
            <a:spAutoFit/>
          </a:bodyPr>
          <a:lstStyle/>
          <a:p>
            <a:pPr algn="ctr">
              <a:defRPr sz="1700">
                <a:solidFill>
                  <a:srgbClr val="E2E8F0"/>
                </a:solidFill>
                <a:latin typeface="Calibri"/>
              </a:defRPr>
            </a:pPr>
            <a:r>
              <a:t>Real-Time Unsupervised Log Anomaly Detection, Dynamic Topology Mapping</a:t>
            </a:r>
            <a:br/>
            <a:r>
              <a:t>&amp; Root-Cause Blast-Radius Ranking</a:t>
            </a:r>
          </a:p>
        </p:txBody>
      </p:sp>
      <p:sp>
        <p:nvSpPr>
          <p:cNvPr id="7" name="Rounded Rectangle 6"/>
          <p:cNvSpPr/>
          <p:nvPr/>
        </p:nvSpPr>
        <p:spPr>
          <a:xfrm>
            <a:off x="3566160" y="4663440"/>
            <a:ext cx="5029200" cy="594360"/>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4709160"/>
            <a:ext cx="5029200" cy="457200"/>
          </a:xfrm>
          <a:prstGeom prst="rect">
            <a:avLst/>
          </a:prstGeom>
          <a:noFill/>
        </p:spPr>
        <p:txBody>
          <a:bodyPr wrap="none">
            <a:spAutoFit/>
          </a:bodyPr>
          <a:lstStyle/>
          <a:p>
            <a:pPr algn="ctr">
              <a:defRPr sz="1400" b="1">
                <a:solidFill>
                  <a:srgbClr val="FFFFFF"/>
                </a:solidFill>
                <a:latin typeface="Trebuchet MS"/>
              </a:defRPr>
            </a:pPr>
            <a:r>
              <a:t>Taming Microservice Chaos in Real Time</a:t>
            </a:r>
          </a:p>
        </p:txBody>
      </p:sp>
      <p:sp>
        <p:nvSpPr>
          <p:cNvPr id="9" name="TextBox 8"/>
          <p:cNvSpPr txBox="1"/>
          <p:nvPr/>
        </p:nvSpPr>
        <p:spPr>
          <a:xfrm>
            <a:off x="914400" y="5852160"/>
            <a:ext cx="10362895" cy="457200"/>
          </a:xfrm>
          <a:prstGeom prst="rect">
            <a:avLst/>
          </a:prstGeom>
          <a:noFill/>
        </p:spPr>
        <p:txBody>
          <a:bodyPr wrap="none">
            <a:spAutoFit/>
          </a:bodyPr>
          <a:lstStyle/>
          <a:p>
            <a:pPr algn="ctr">
              <a:defRPr sz="1100">
                <a:solidFill>
                  <a:srgbClr val="94A3B8"/>
                </a:solidFill>
                <a:latin typeface="Consolas"/>
              </a:defRPr>
            </a:pPr>
            <a:r>
              <a:t>Open Source (Apache 2.0)  •  Python 3.11 / FastAPI  •  TimescaleDB  •  Valkey 8.0  •  React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TEAM</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#2 / FlutterForecast #2</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The Engineering Team</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Core Architecture, Distributed Streaming, ML Systems &amp; QA</a:t>
            </a:r>
          </a:p>
        </p:txBody>
      </p:sp>
      <p:sp>
        <p:nvSpPr>
          <p:cNvPr id="7" name="Oval 6"/>
          <p:cNvSpPr/>
          <p:nvPr/>
        </p:nvSpPr>
        <p:spPr>
          <a:xfrm>
            <a:off x="1051560" y="1828800"/>
            <a:ext cx="1325880" cy="1325880"/>
          </a:xfrm>
          <a:prstGeom prst="ellipse">
            <a:avLst/>
          </a:prstGeom>
          <a:solidFill>
            <a:srgbClr val="1A263B"/>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48840"/>
            <a:ext cx="1325880" cy="640080"/>
          </a:xfrm>
          <a:prstGeom prst="rect">
            <a:avLst/>
          </a:prstGeom>
          <a:noFill/>
        </p:spPr>
        <p:txBody>
          <a:bodyPr wrap="none">
            <a:spAutoFit/>
          </a:bodyPr>
          <a:lstStyle/>
          <a:p>
            <a:pPr algn="ctr">
              <a:defRPr sz="2200" b="1">
                <a:solidFill>
                  <a:srgbClr val="10B981"/>
                </a:solidFill>
                <a:latin typeface="Trebuchet MS"/>
              </a:defRPr>
            </a:pPr>
            <a:r>
              <a:t>MH</a:t>
            </a:r>
          </a:p>
        </p:txBody>
      </p:sp>
      <p:sp>
        <p:nvSpPr>
          <p:cNvPr id="9" name="Rounded Rectangle 8"/>
          <p:cNvSpPr/>
          <p:nvPr/>
        </p:nvSpPr>
        <p:spPr>
          <a:xfrm>
            <a:off x="731520" y="3383280"/>
            <a:ext cx="1965960" cy="2377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1783080" cy="2194560"/>
          </a:xfrm>
          <a:prstGeom prst="rect">
            <a:avLst/>
          </a:prstGeom>
          <a:noFill/>
        </p:spPr>
        <p:txBody>
          <a:bodyPr wrap="square">
            <a:spAutoFit/>
          </a:bodyPr>
          <a:lstStyle/>
          <a:p>
            <a:pPr algn="ctr">
              <a:defRPr sz="1300" b="1">
                <a:solidFill>
                  <a:srgbClr val="FFFFFF"/>
                </a:solidFill>
                <a:latin typeface="Trebuchet MS"/>
              </a:defRPr>
            </a:pPr>
            <a:r>
              <a:t>Melos Hajrullahu</a:t>
            </a:r>
          </a:p>
          <a:p>
            <a:pPr algn="ctr">
              <a:defRPr sz="1000" b="1">
                <a:solidFill>
                  <a:srgbClr val="10B981"/>
                </a:solidFill>
                <a:latin typeface="Calibri"/>
              </a:defRPr>
            </a:pPr>
            <a:r>
              <a:t>Team Leader</a:t>
            </a:r>
          </a:p>
          <a:p>
            <a:br/>
            <a:pPr algn="ctr">
              <a:defRPr sz="950">
                <a:solidFill>
                  <a:srgbClr val="94A3B8"/>
                </a:solidFill>
                <a:latin typeface="Calibri"/>
              </a:defRPr>
            </a:pPr>
            <a:r>
              <a:t>ML Systems &amp; Anomaly Modeling</a:t>
            </a:r>
          </a:p>
        </p:txBody>
      </p:sp>
      <p:sp>
        <p:nvSpPr>
          <p:cNvPr id="11" name="Oval 10"/>
          <p:cNvSpPr/>
          <p:nvPr/>
        </p:nvSpPr>
        <p:spPr>
          <a:xfrm>
            <a:off x="3236976" y="1828800"/>
            <a:ext cx="1325880" cy="1325880"/>
          </a:xfrm>
          <a:prstGeom prst="ellipse">
            <a:avLst/>
          </a:prstGeom>
          <a:solidFill>
            <a:srgbClr val="1A263B"/>
          </a:solidFill>
          <a:ln w="317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36976" y="2148840"/>
            <a:ext cx="1325880" cy="640080"/>
          </a:xfrm>
          <a:prstGeom prst="rect">
            <a:avLst/>
          </a:prstGeom>
          <a:noFill/>
        </p:spPr>
        <p:txBody>
          <a:bodyPr wrap="none">
            <a:spAutoFit/>
          </a:bodyPr>
          <a:lstStyle/>
          <a:p>
            <a:pPr algn="ctr">
              <a:defRPr sz="2200" b="1">
                <a:solidFill>
                  <a:srgbClr val="06B6D4"/>
                </a:solidFill>
                <a:latin typeface="Trebuchet MS"/>
              </a:defRPr>
            </a:pPr>
            <a:r>
              <a:t>LI</a:t>
            </a:r>
          </a:p>
        </p:txBody>
      </p:sp>
      <p:sp>
        <p:nvSpPr>
          <p:cNvPr id="13" name="Rounded Rectangle 12"/>
          <p:cNvSpPr/>
          <p:nvPr/>
        </p:nvSpPr>
        <p:spPr>
          <a:xfrm>
            <a:off x="2916936" y="3383280"/>
            <a:ext cx="1965960" cy="2377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3474720"/>
            <a:ext cx="1783080" cy="2194560"/>
          </a:xfrm>
          <a:prstGeom prst="rect">
            <a:avLst/>
          </a:prstGeom>
          <a:noFill/>
        </p:spPr>
        <p:txBody>
          <a:bodyPr wrap="square">
            <a:spAutoFit/>
          </a:bodyPr>
          <a:lstStyle/>
          <a:p>
            <a:pPr algn="ctr">
              <a:defRPr sz="1300" b="1">
                <a:solidFill>
                  <a:srgbClr val="FFFFFF"/>
                </a:solidFill>
                <a:latin typeface="Trebuchet MS"/>
              </a:defRPr>
            </a:pPr>
            <a:r>
              <a:t>Leorent Ismajli</a:t>
            </a:r>
          </a:p>
          <a:p>
            <a:pPr algn="ctr">
              <a:defRPr sz="1000" b="1">
                <a:solidFill>
                  <a:srgbClr val="06B6D4"/>
                </a:solidFill>
                <a:latin typeface="Calibri"/>
              </a:defRPr>
            </a:pPr>
            <a:r>
              <a:t>Core Engine Lead</a:t>
            </a:r>
          </a:p>
          <a:p>
            <a:br/>
            <a:pPr algn="ctr">
              <a:defRPr sz="950">
                <a:solidFill>
                  <a:srgbClr val="94A3B8"/>
                </a:solidFill>
                <a:latin typeface="Calibri"/>
              </a:defRPr>
            </a:pPr>
            <a:r>
              <a:t>Valkey Streams &amp; Drain3 Mining</a:t>
            </a:r>
          </a:p>
        </p:txBody>
      </p:sp>
      <p:sp>
        <p:nvSpPr>
          <p:cNvPr id="15" name="Oval 14"/>
          <p:cNvSpPr/>
          <p:nvPr/>
        </p:nvSpPr>
        <p:spPr>
          <a:xfrm>
            <a:off x="5422392" y="1828800"/>
            <a:ext cx="1325880" cy="1325880"/>
          </a:xfrm>
          <a:prstGeom prst="ellipse">
            <a:avLst/>
          </a:prstGeom>
          <a:solidFill>
            <a:srgbClr val="1A263B"/>
          </a:solidFill>
          <a:ln w="317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22392" y="2148840"/>
            <a:ext cx="1325880" cy="640080"/>
          </a:xfrm>
          <a:prstGeom prst="rect">
            <a:avLst/>
          </a:prstGeom>
          <a:noFill/>
        </p:spPr>
        <p:txBody>
          <a:bodyPr wrap="none">
            <a:spAutoFit/>
          </a:bodyPr>
          <a:lstStyle/>
          <a:p>
            <a:pPr algn="ctr">
              <a:defRPr sz="2200" b="1">
                <a:solidFill>
                  <a:srgbClr val="3B82F6"/>
                </a:solidFill>
                <a:latin typeface="Trebuchet MS"/>
              </a:defRPr>
            </a:pPr>
            <a:r>
              <a:t>BH</a:t>
            </a:r>
          </a:p>
        </p:txBody>
      </p:sp>
      <p:sp>
        <p:nvSpPr>
          <p:cNvPr id="17" name="Rounded Rectangle 16"/>
          <p:cNvSpPr/>
          <p:nvPr/>
        </p:nvSpPr>
        <p:spPr>
          <a:xfrm>
            <a:off x="5102352" y="3383280"/>
            <a:ext cx="1965960" cy="2377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93792" y="3474720"/>
            <a:ext cx="1783080" cy="2194560"/>
          </a:xfrm>
          <a:prstGeom prst="rect">
            <a:avLst/>
          </a:prstGeom>
          <a:noFill/>
        </p:spPr>
        <p:txBody>
          <a:bodyPr wrap="square">
            <a:spAutoFit/>
          </a:bodyPr>
          <a:lstStyle/>
          <a:p>
            <a:pPr algn="ctr">
              <a:defRPr sz="1300" b="1">
                <a:solidFill>
                  <a:srgbClr val="FFFFFF"/>
                </a:solidFill>
                <a:latin typeface="Trebuchet MS"/>
              </a:defRPr>
            </a:pPr>
            <a:r>
              <a:t>Blerim Haxhiu</a:t>
            </a:r>
          </a:p>
          <a:p>
            <a:pPr algn="ctr">
              <a:defRPr sz="1000" b="1">
                <a:solidFill>
                  <a:srgbClr val="3B82F6"/>
                </a:solidFill>
                <a:latin typeface="Calibri"/>
              </a:defRPr>
            </a:pPr>
            <a:r>
              <a:t>Frontend Specialist</a:t>
            </a:r>
          </a:p>
          <a:p>
            <a:br/>
            <a:pPr algn="ctr">
              <a:defRPr sz="950">
                <a:solidFill>
                  <a:srgbClr val="94A3B8"/>
                </a:solidFill>
                <a:latin typeface="Calibri"/>
              </a:defRPr>
            </a:pPr>
            <a:r>
              <a:t>React 18 &amp; Cytoscape Topology</a:t>
            </a:r>
          </a:p>
        </p:txBody>
      </p:sp>
      <p:sp>
        <p:nvSpPr>
          <p:cNvPr id="19" name="Oval 18"/>
          <p:cNvSpPr/>
          <p:nvPr/>
        </p:nvSpPr>
        <p:spPr>
          <a:xfrm>
            <a:off x="7607808" y="1828800"/>
            <a:ext cx="1325880" cy="1325880"/>
          </a:xfrm>
          <a:prstGeom prst="ellipse">
            <a:avLst/>
          </a:prstGeom>
          <a:solidFill>
            <a:srgbClr val="1A263B"/>
          </a:solidFill>
          <a:ln w="317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07808" y="2148840"/>
            <a:ext cx="1325880" cy="640080"/>
          </a:xfrm>
          <a:prstGeom prst="rect">
            <a:avLst/>
          </a:prstGeom>
          <a:noFill/>
        </p:spPr>
        <p:txBody>
          <a:bodyPr wrap="none">
            <a:spAutoFit/>
          </a:bodyPr>
          <a:lstStyle/>
          <a:p>
            <a:pPr algn="ctr">
              <a:defRPr sz="2200" b="1">
                <a:solidFill>
                  <a:srgbClr val="8B5CF6"/>
                </a:solidFill>
                <a:latin typeface="Trebuchet MS"/>
              </a:defRPr>
            </a:pPr>
            <a:r>
              <a:t>BS</a:t>
            </a:r>
          </a:p>
        </p:txBody>
      </p:sp>
      <p:sp>
        <p:nvSpPr>
          <p:cNvPr id="21" name="Rounded Rectangle 20"/>
          <p:cNvSpPr/>
          <p:nvPr/>
        </p:nvSpPr>
        <p:spPr>
          <a:xfrm>
            <a:off x="7287768" y="3383280"/>
            <a:ext cx="1965960" cy="2377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79208" y="3474720"/>
            <a:ext cx="1783080" cy="2194560"/>
          </a:xfrm>
          <a:prstGeom prst="rect">
            <a:avLst/>
          </a:prstGeom>
          <a:noFill/>
        </p:spPr>
        <p:txBody>
          <a:bodyPr wrap="square">
            <a:spAutoFit/>
          </a:bodyPr>
          <a:lstStyle/>
          <a:p>
            <a:pPr algn="ctr">
              <a:defRPr sz="1300" b="1">
                <a:solidFill>
                  <a:srgbClr val="FFFFFF"/>
                </a:solidFill>
                <a:latin typeface="Trebuchet MS"/>
              </a:defRPr>
            </a:pPr>
            <a:r>
              <a:t>Blert Sylejmani</a:t>
            </a:r>
          </a:p>
          <a:p>
            <a:pPr algn="ctr">
              <a:defRPr sz="1000" b="1">
                <a:solidFill>
                  <a:srgbClr val="8B5CF6"/>
                </a:solidFill>
                <a:latin typeface="Calibri"/>
              </a:defRPr>
            </a:pPr>
            <a:r>
              <a:t>Database Architect</a:t>
            </a:r>
          </a:p>
          <a:p>
            <a:br/>
            <a:pPr algn="ctr">
              <a:defRPr sz="950">
                <a:solidFill>
                  <a:srgbClr val="94A3B8"/>
                </a:solidFill>
                <a:latin typeface="Calibri"/>
              </a:defRPr>
            </a:pPr>
            <a:r>
              <a:t>FastAPI &amp; TimescaleDB Engine</a:t>
            </a:r>
          </a:p>
        </p:txBody>
      </p:sp>
      <p:sp>
        <p:nvSpPr>
          <p:cNvPr id="23" name="Oval 22"/>
          <p:cNvSpPr/>
          <p:nvPr/>
        </p:nvSpPr>
        <p:spPr>
          <a:xfrm>
            <a:off x="9793224" y="1828800"/>
            <a:ext cx="1325880" cy="1325880"/>
          </a:xfrm>
          <a:prstGeom prst="ellipse">
            <a:avLst/>
          </a:prstGeom>
          <a:solidFill>
            <a:srgbClr val="1A263B"/>
          </a:solidFill>
          <a:ln w="317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93224" y="2148840"/>
            <a:ext cx="1325880" cy="640080"/>
          </a:xfrm>
          <a:prstGeom prst="rect">
            <a:avLst/>
          </a:prstGeom>
          <a:noFill/>
        </p:spPr>
        <p:txBody>
          <a:bodyPr wrap="none">
            <a:spAutoFit/>
          </a:bodyPr>
          <a:lstStyle/>
          <a:p>
            <a:pPr algn="ctr">
              <a:defRPr sz="2200" b="1">
                <a:solidFill>
                  <a:srgbClr val="F97316"/>
                </a:solidFill>
                <a:latin typeface="Trebuchet MS"/>
              </a:defRPr>
            </a:pPr>
            <a:r>
              <a:t>JM</a:t>
            </a:r>
          </a:p>
        </p:txBody>
      </p:sp>
      <p:sp>
        <p:nvSpPr>
          <p:cNvPr id="25" name="Rounded Rectangle 24"/>
          <p:cNvSpPr/>
          <p:nvPr/>
        </p:nvSpPr>
        <p:spPr>
          <a:xfrm>
            <a:off x="9473184" y="3383280"/>
            <a:ext cx="1965960" cy="2377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64624" y="3474720"/>
            <a:ext cx="1783080" cy="2194560"/>
          </a:xfrm>
          <a:prstGeom prst="rect">
            <a:avLst/>
          </a:prstGeom>
          <a:noFill/>
        </p:spPr>
        <p:txBody>
          <a:bodyPr wrap="square">
            <a:spAutoFit/>
          </a:bodyPr>
          <a:lstStyle/>
          <a:p>
            <a:pPr algn="ctr">
              <a:defRPr sz="1300" b="1">
                <a:solidFill>
                  <a:srgbClr val="FFFFFF"/>
                </a:solidFill>
                <a:latin typeface="Trebuchet MS"/>
              </a:defRPr>
            </a:pPr>
            <a:r>
              <a:t>Juled Morina</a:t>
            </a:r>
          </a:p>
          <a:p>
            <a:pPr algn="ctr">
              <a:defRPr sz="1000" b="1">
                <a:solidFill>
                  <a:srgbClr val="F97316"/>
                </a:solidFill>
                <a:latin typeface="Calibri"/>
              </a:defRPr>
            </a:pPr>
            <a:r>
              <a:t>SRE &amp; Chaos Lead</a:t>
            </a:r>
          </a:p>
          <a:p>
            <a:br/>
            <a:pPr algn="ctr">
              <a:defRPr sz="950">
                <a:solidFill>
                  <a:srgbClr val="94A3B8"/>
                </a:solidFill>
                <a:latin typeface="Calibri"/>
              </a:defRPr>
            </a:pPr>
            <a:r>
              <a:t>Chaos Injection &amp; Hardening</a:t>
            </a:r>
          </a:p>
        </p:txBody>
      </p:sp>
      <p:sp>
        <p:nvSpPr>
          <p:cNvPr id="27" name="Rounded Rectangle 26"/>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5 Core Engineers | 100% Passing Tests | Multi-Tenant Architecture Validated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PROBLEM</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#3 (3 Numbered Cards)</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The Problem: Microservice Chaos &amp; Blindspots</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Why Traditional Observability Breaks in Modern Cloud Environments</a:t>
            </a:r>
          </a:p>
        </p:txBody>
      </p:sp>
      <p:sp>
        <p:nvSpPr>
          <p:cNvPr id="7" name="Rounded Rectangle 6"/>
          <p:cNvSpPr/>
          <p:nvPr/>
        </p:nvSpPr>
        <p:spPr>
          <a:xfrm>
            <a:off x="731520" y="1828800"/>
            <a:ext cx="3383280" cy="3931920"/>
          </a:xfrm>
          <a:prstGeom prst="roundRect">
            <a:avLst/>
          </a:prstGeom>
          <a:solidFill>
            <a:srgbClr val="161F30"/>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11680"/>
            <a:ext cx="548640" cy="548640"/>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548640" cy="457200"/>
          </a:xfrm>
          <a:prstGeom prst="rect">
            <a:avLst/>
          </a:prstGeom>
          <a:noFill/>
        </p:spPr>
        <p:txBody>
          <a:bodyPr wrap="none">
            <a:spAutoFit/>
          </a:bodyPr>
          <a:lstStyle/>
          <a:p>
            <a:pPr algn="ctr">
              <a:defRPr sz="1400" b="1">
                <a:solidFill>
                  <a:srgbClr val="FFFFFF"/>
                </a:solidFill>
                <a:latin typeface="Trebuchet MS"/>
              </a:defRPr>
            </a:pPr>
            <a:r>
              <a:t>1</a:t>
            </a:r>
          </a:p>
        </p:txBody>
      </p:sp>
      <p:sp>
        <p:nvSpPr>
          <p:cNvPr id="10" name="TextBox 9"/>
          <p:cNvSpPr txBox="1"/>
          <p:nvPr/>
        </p:nvSpPr>
        <p:spPr>
          <a:xfrm>
            <a:off x="1005840" y="2743200"/>
            <a:ext cx="2834640" cy="2834640"/>
          </a:xfrm>
          <a:prstGeom prst="rect">
            <a:avLst/>
          </a:prstGeom>
          <a:noFill/>
        </p:spPr>
        <p:txBody>
          <a:bodyPr wrap="square">
            <a:spAutoFit/>
          </a:bodyPr>
          <a:lstStyle/>
          <a:p>
            <a:pPr>
              <a:defRPr sz="1600" b="1">
                <a:solidFill>
                  <a:srgbClr val="FFFFFF"/>
                </a:solidFill>
                <a:latin typeface="Trebuchet MS"/>
              </a:defRPr>
            </a:pPr>
            <a:r>
              <a:t>Cascading Failures</a:t>
            </a:r>
          </a:p>
          <a:p>
            <a:pPr>
              <a:defRPr sz="1100" i="1">
                <a:solidFill>
                  <a:srgbClr val="F97316"/>
                </a:solidFill>
                <a:latin typeface="Calibri"/>
              </a:defRPr>
            </a:pPr>
            <a:r>
              <a:t>Decoupled Complexity</a:t>
            </a:r>
          </a:p>
          <a:p>
            <a:br/>
            <a:pPr>
              <a:defRPr sz="1000">
                <a:solidFill>
                  <a:srgbClr val="E2E8F0"/>
                </a:solidFill>
                <a:latin typeface="Calibri"/>
              </a:defRPr>
            </a:pPr>
            <a:r>
              <a:t>• Modern clouds run dozens of decoupled microservices.</a:t>
            </a:r>
            <a:br/>
            <a:br/>
            <a:r>
              <a:t>• When a single database or auth node experiences latency, errors cascade violently down the chain.</a:t>
            </a:r>
            <a:br/>
            <a:br/>
            <a:r>
              <a:t>• Millions of confusing, unstructured log lines flood in seconds, burying the original trigger.</a:t>
            </a:r>
          </a:p>
        </p:txBody>
      </p:sp>
      <p:sp>
        <p:nvSpPr>
          <p:cNvPr id="11" name="Rounded Rectangle 10"/>
          <p:cNvSpPr/>
          <p:nvPr/>
        </p:nvSpPr>
        <p:spPr>
          <a:xfrm>
            <a:off x="4389120" y="1828800"/>
            <a:ext cx="3383280" cy="3931920"/>
          </a:xfrm>
          <a:prstGeom prst="roundRect">
            <a:avLst/>
          </a:prstGeom>
          <a:solidFill>
            <a:srgbClr val="161F30"/>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63440" y="2011680"/>
            <a:ext cx="548640" cy="54864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057400"/>
            <a:ext cx="548640" cy="457200"/>
          </a:xfrm>
          <a:prstGeom prst="rect">
            <a:avLst/>
          </a:prstGeom>
          <a:noFill/>
        </p:spPr>
        <p:txBody>
          <a:bodyPr wrap="none">
            <a:spAutoFit/>
          </a:bodyPr>
          <a:lstStyle/>
          <a:p>
            <a:pPr algn="ctr">
              <a:defRPr sz="1400" b="1">
                <a:solidFill>
                  <a:srgbClr val="FFFFFF"/>
                </a:solidFill>
                <a:latin typeface="Trebuchet MS"/>
              </a:defRPr>
            </a:pPr>
            <a:r>
              <a:t>2</a:t>
            </a:r>
          </a:p>
        </p:txBody>
      </p:sp>
      <p:sp>
        <p:nvSpPr>
          <p:cNvPr id="14" name="TextBox 13"/>
          <p:cNvSpPr txBox="1"/>
          <p:nvPr/>
        </p:nvSpPr>
        <p:spPr>
          <a:xfrm>
            <a:off x="4663440" y="2743200"/>
            <a:ext cx="2834640" cy="2834640"/>
          </a:xfrm>
          <a:prstGeom prst="rect">
            <a:avLst/>
          </a:prstGeom>
          <a:noFill/>
        </p:spPr>
        <p:txBody>
          <a:bodyPr wrap="square">
            <a:spAutoFit/>
          </a:bodyPr>
          <a:lstStyle/>
          <a:p>
            <a:pPr>
              <a:defRPr sz="1600" b="1">
                <a:solidFill>
                  <a:srgbClr val="FFFFFF"/>
                </a:solidFill>
                <a:latin typeface="Trebuchet MS"/>
              </a:defRPr>
            </a:pPr>
            <a:r>
              <a:t>Alert Fatigue</a:t>
            </a:r>
          </a:p>
          <a:p>
            <a:pPr>
              <a:defRPr sz="1100" i="1">
                <a:solidFill>
                  <a:srgbClr val="8B5CF6"/>
                </a:solidFill>
                <a:latin typeface="Calibri"/>
              </a:defRPr>
            </a:pPr>
            <a:r>
              <a:t>Low-Retention &amp; Noise</a:t>
            </a:r>
          </a:p>
          <a:p>
            <a:br/>
            <a:pPr>
              <a:defRPr sz="1000">
                <a:solidFill>
                  <a:srgbClr val="E2E8F0"/>
                </a:solidFill>
                <a:latin typeface="Calibri"/>
              </a:defRPr>
            </a:pPr>
            <a:r>
              <a:t>• SREs are bombarded by hundreds of simultaneous alerts.</a:t>
            </a:r>
            <a:br/>
            <a:br/>
            <a:r>
              <a:t>• Over 70% of alerts during an incident are downstream symptoms (e.g. 504 Gateway Timeouts, retries).</a:t>
            </a:r>
            <a:br/>
            <a:br/>
            <a:r>
              <a:t>• Critical root-cause signals are drowned out, causing panic and triage paralysis.</a:t>
            </a:r>
          </a:p>
        </p:txBody>
      </p:sp>
      <p:sp>
        <p:nvSpPr>
          <p:cNvPr id="15" name="Rounded Rectangle 14"/>
          <p:cNvSpPr/>
          <p:nvPr/>
        </p:nvSpPr>
        <p:spPr>
          <a:xfrm>
            <a:off x="8046720" y="1828800"/>
            <a:ext cx="3383280" cy="393192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1040" y="2011680"/>
            <a:ext cx="548640" cy="54864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057400"/>
            <a:ext cx="548640" cy="457200"/>
          </a:xfrm>
          <a:prstGeom prst="rect">
            <a:avLst/>
          </a:prstGeom>
          <a:noFill/>
        </p:spPr>
        <p:txBody>
          <a:bodyPr wrap="none">
            <a:spAutoFit/>
          </a:bodyPr>
          <a:lstStyle/>
          <a:p>
            <a:pPr algn="ctr">
              <a:defRPr sz="1400" b="1">
                <a:solidFill>
                  <a:srgbClr val="FFFFFF"/>
                </a:solidFill>
                <a:latin typeface="Trebuchet MS"/>
              </a:defRPr>
            </a:pPr>
            <a:r>
              <a:t>3</a:t>
            </a:r>
          </a:p>
        </p:txBody>
      </p:sp>
      <p:sp>
        <p:nvSpPr>
          <p:cNvPr id="18" name="TextBox 17"/>
          <p:cNvSpPr txBox="1"/>
          <p:nvPr/>
        </p:nvSpPr>
        <p:spPr>
          <a:xfrm>
            <a:off x="8321040" y="2743200"/>
            <a:ext cx="2834640" cy="2834640"/>
          </a:xfrm>
          <a:prstGeom prst="rect">
            <a:avLst/>
          </a:prstGeom>
          <a:noFill/>
        </p:spPr>
        <p:txBody>
          <a:bodyPr wrap="square">
            <a:spAutoFit/>
          </a:bodyPr>
          <a:lstStyle/>
          <a:p>
            <a:pPr>
              <a:defRPr sz="1600" b="1">
                <a:solidFill>
                  <a:srgbClr val="FFFFFF"/>
                </a:solidFill>
                <a:latin typeface="Trebuchet MS"/>
              </a:defRPr>
            </a:pPr>
            <a:r>
              <a:t>Content Overload</a:t>
            </a:r>
          </a:p>
          <a:p>
            <a:pPr>
              <a:defRPr sz="1100" i="1">
                <a:solidFill>
                  <a:srgbClr val="06B6D4"/>
                </a:solidFill>
                <a:latin typeface="Calibri"/>
              </a:defRPr>
            </a:pPr>
            <a:r>
              <a:t>Skyrocketing MTTR Cost</a:t>
            </a:r>
          </a:p>
          <a:p>
            <a:br/>
            <a:pPr>
              <a:defRPr sz="1000">
                <a:solidFill>
                  <a:srgbClr val="E2E8F0"/>
                </a:solidFill>
                <a:latin typeface="Calibri"/>
              </a:defRPr>
            </a:pPr>
            <a:r>
              <a:t>• Manual log grep, indexing searches, and timeline reconstruction take 45 to 90 minutes on average.</a:t>
            </a:r>
            <a:br/>
            <a:br/>
            <a:r>
              <a:t>• Enterprise downtime costs exceed $5,600+ per minute ($300,000+ per hour).</a:t>
            </a:r>
            <a:br/>
            <a:br/>
            <a:r>
              <a:t>• Protracted outages directly cause customer churn and severe SLA breach penalties.</a:t>
            </a:r>
          </a:p>
        </p:txBody>
      </p:sp>
      <p:sp>
        <p:nvSpPr>
          <p:cNvPr id="19" name="Rounded Rectangle 18"/>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$5,600/min Average Downtime Cost | 70%+ Symptom Noise | 45-90 min Average MTTR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RESEARCH</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#4 / FlutterForecast #3</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Data-Driven Research &amp; Empirical Validation</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Operational Statistics from Industry Studies &amp; LogSentinel Validation</a:t>
            </a:r>
          </a:p>
        </p:txBody>
      </p:sp>
      <p:sp>
        <p:nvSpPr>
          <p:cNvPr id="7" name="Rounded Rectangle 6"/>
          <p:cNvSpPr/>
          <p:nvPr/>
        </p:nvSpPr>
        <p:spPr>
          <a:xfrm>
            <a:off x="731520" y="1828800"/>
            <a:ext cx="2468880" cy="1920240"/>
          </a:xfrm>
          <a:prstGeom prst="roundRect">
            <a:avLst/>
          </a:prstGeom>
          <a:solidFill>
            <a:srgbClr val="161F30"/>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194560" cy="1645920"/>
          </a:xfrm>
          <a:prstGeom prst="rect">
            <a:avLst/>
          </a:prstGeom>
          <a:noFill/>
        </p:spPr>
        <p:txBody>
          <a:bodyPr wrap="square">
            <a:spAutoFit/>
          </a:bodyPr>
          <a:lstStyle/>
          <a:p>
            <a:pPr algn="ctr">
              <a:defRPr sz="3600" b="1">
                <a:solidFill>
                  <a:srgbClr val="F97316"/>
                </a:solidFill>
                <a:latin typeface="Trebuchet MS"/>
              </a:defRPr>
            </a:pPr>
            <a:r>
              <a:t>82%</a:t>
            </a:r>
          </a:p>
          <a:p>
            <a:pPr algn="ctr">
              <a:defRPr sz="1200" b="1">
                <a:solidFill>
                  <a:srgbClr val="FFFFFF"/>
                </a:solidFill>
                <a:latin typeface="Calibri"/>
              </a:defRPr>
            </a:pPr>
            <a:r>
              <a:t>Cascading Outages</a:t>
            </a:r>
          </a:p>
          <a:p>
            <a:pPr algn="ctr">
              <a:defRPr sz="950">
                <a:solidFill>
                  <a:srgbClr val="94A3B8"/>
                </a:solidFill>
                <a:latin typeface="Calibri"/>
              </a:defRPr>
            </a:pPr>
            <a:r>
              <a:t>of modern enterprise cloud outages originate from interconnected microservice cascades.</a:t>
            </a:r>
          </a:p>
        </p:txBody>
      </p:sp>
      <p:sp>
        <p:nvSpPr>
          <p:cNvPr id="9" name="Rounded Rectangle 8"/>
          <p:cNvSpPr/>
          <p:nvPr/>
        </p:nvSpPr>
        <p:spPr>
          <a:xfrm>
            <a:off x="3483864" y="1828800"/>
            <a:ext cx="2468880" cy="1920240"/>
          </a:xfrm>
          <a:prstGeom prst="roundRect">
            <a:avLst/>
          </a:prstGeom>
          <a:solidFill>
            <a:srgbClr val="161F30"/>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1920240"/>
            <a:ext cx="2194560" cy="1645920"/>
          </a:xfrm>
          <a:prstGeom prst="rect">
            <a:avLst/>
          </a:prstGeom>
          <a:noFill/>
        </p:spPr>
        <p:txBody>
          <a:bodyPr wrap="square">
            <a:spAutoFit/>
          </a:bodyPr>
          <a:lstStyle/>
          <a:p>
            <a:pPr algn="ctr">
              <a:defRPr sz="3600" b="1">
                <a:solidFill>
                  <a:srgbClr val="8B5CF6"/>
                </a:solidFill>
                <a:latin typeface="Trebuchet MS"/>
              </a:defRPr>
            </a:pPr>
            <a:r>
              <a:t>67%</a:t>
            </a:r>
          </a:p>
          <a:p>
            <a:pPr algn="ctr">
              <a:defRPr sz="1200" b="1">
                <a:solidFill>
                  <a:srgbClr val="FFFFFF"/>
                </a:solidFill>
                <a:latin typeface="Calibri"/>
              </a:defRPr>
            </a:pPr>
            <a:r>
              <a:t>MTTR Wasted</a:t>
            </a:r>
          </a:p>
          <a:p>
            <a:pPr algn="ctr">
              <a:defRPr sz="950">
                <a:solidFill>
                  <a:srgbClr val="94A3B8"/>
                </a:solidFill>
                <a:latin typeface="Calibri"/>
              </a:defRPr>
            </a:pPr>
            <a:r>
              <a:t>of total incident triage time is spent merely finding which service failed first.</a:t>
            </a:r>
          </a:p>
        </p:txBody>
      </p:sp>
      <p:sp>
        <p:nvSpPr>
          <p:cNvPr id="11" name="Rounded Rectangle 10"/>
          <p:cNvSpPr/>
          <p:nvPr/>
        </p:nvSpPr>
        <p:spPr>
          <a:xfrm>
            <a:off x="6236208" y="1828800"/>
            <a:ext cx="2468880" cy="1920240"/>
          </a:xfrm>
          <a:prstGeom prst="roundRect">
            <a:avLst/>
          </a:prstGeom>
          <a:solidFill>
            <a:srgbClr val="161F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920240"/>
            <a:ext cx="2194560" cy="1645920"/>
          </a:xfrm>
          <a:prstGeom prst="rect">
            <a:avLst/>
          </a:prstGeom>
          <a:noFill/>
        </p:spPr>
        <p:txBody>
          <a:bodyPr wrap="square">
            <a:spAutoFit/>
          </a:bodyPr>
          <a:lstStyle/>
          <a:p>
            <a:pPr algn="ctr">
              <a:defRPr sz="3600" b="1">
                <a:solidFill>
                  <a:srgbClr val="10B981"/>
                </a:solidFill>
                <a:latin typeface="Trebuchet MS"/>
              </a:defRPr>
            </a:pPr>
            <a:r>
              <a:t>10k+</a:t>
            </a:r>
          </a:p>
          <a:p>
            <a:pPr algn="ctr">
              <a:defRPr sz="1200" b="1">
                <a:solidFill>
                  <a:srgbClr val="FFFFFF"/>
                </a:solidFill>
                <a:latin typeface="Calibri"/>
              </a:defRPr>
            </a:pPr>
            <a:r>
              <a:t>Logs / Second</a:t>
            </a:r>
          </a:p>
          <a:p>
            <a:pPr algn="ctr">
              <a:defRPr sz="950">
                <a:solidFill>
                  <a:srgbClr val="94A3B8"/>
                </a:solidFill>
                <a:latin typeface="Calibri"/>
              </a:defRPr>
            </a:pPr>
            <a:r>
              <a:t>sustained ingestion throughput achieved per worker node with zero backpressure.</a:t>
            </a:r>
          </a:p>
        </p:txBody>
      </p:sp>
      <p:sp>
        <p:nvSpPr>
          <p:cNvPr id="13" name="Rounded Rectangle 12"/>
          <p:cNvSpPr/>
          <p:nvPr/>
        </p:nvSpPr>
        <p:spPr>
          <a:xfrm>
            <a:off x="8988552" y="1828800"/>
            <a:ext cx="2468880" cy="192024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25712" y="1920240"/>
            <a:ext cx="2194560" cy="1645920"/>
          </a:xfrm>
          <a:prstGeom prst="rect">
            <a:avLst/>
          </a:prstGeom>
          <a:noFill/>
        </p:spPr>
        <p:txBody>
          <a:bodyPr wrap="square">
            <a:spAutoFit/>
          </a:bodyPr>
          <a:lstStyle/>
          <a:p>
            <a:pPr algn="ctr">
              <a:defRPr sz="3600" b="1">
                <a:solidFill>
                  <a:srgbClr val="06B6D4"/>
                </a:solidFill>
                <a:latin typeface="Trebuchet MS"/>
              </a:defRPr>
            </a:pPr>
            <a:r>
              <a:t>0.959</a:t>
            </a:r>
          </a:p>
          <a:p>
            <a:pPr algn="ctr">
              <a:defRPr sz="1200" b="1">
                <a:solidFill>
                  <a:srgbClr val="FFFFFF"/>
                </a:solidFill>
                <a:latin typeface="Calibri"/>
              </a:defRPr>
            </a:pPr>
            <a:r>
              <a:t>ROC-AUC Score</a:t>
            </a:r>
          </a:p>
          <a:p>
            <a:pPr algn="ctr">
              <a:defRPr sz="950">
                <a:solidFill>
                  <a:srgbClr val="94A3B8"/>
                </a:solidFill>
                <a:latin typeface="Calibri"/>
              </a:defRPr>
            </a:pPr>
            <a:r>
              <a:t>discriminatory accuracy achieved by LogSentinel's tuned Isolation Forest.</a:t>
            </a:r>
          </a:p>
        </p:txBody>
      </p:sp>
      <p:sp>
        <p:nvSpPr>
          <p:cNvPr id="15" name="Rounded Rectangle 14"/>
          <p:cNvSpPr/>
          <p:nvPr/>
        </p:nvSpPr>
        <p:spPr>
          <a:xfrm>
            <a:off x="731520" y="3977639"/>
            <a:ext cx="10728655" cy="1828800"/>
          </a:xfrm>
          <a:prstGeom prst="roundRect">
            <a:avLst/>
          </a:prstGeom>
          <a:solidFill>
            <a:srgbClr val="0F172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069080"/>
            <a:ext cx="10149840" cy="1645920"/>
          </a:xfrm>
          <a:prstGeom prst="rect">
            <a:avLst/>
          </a:prstGeom>
          <a:noFill/>
        </p:spPr>
        <p:txBody>
          <a:bodyPr wrap="square">
            <a:spAutoFit/>
          </a:bodyPr>
          <a:lstStyle/>
          <a:p>
            <a:pPr>
              <a:defRPr sz="1100" b="1">
                <a:solidFill>
                  <a:srgbClr val="06B6D4"/>
                </a:solidFill>
                <a:latin typeface="Consolas"/>
              </a:defRPr>
            </a:pPr>
            <a:r>
              <a:t>EMPIRICAL BENCHMARK ANALYSIS (backend/benchmark_results.json &amp; ml_evaluation_results.json):</a:t>
            </a:r>
          </a:p>
          <a:p>
            <a:pPr>
              <a:defRPr sz="1000">
                <a:solidFill>
                  <a:srgbClr val="E2E8F0"/>
                </a:solidFill>
                <a:latin typeface="Calibri"/>
              </a:defRPr>
            </a:pPr>
            <a:r>
              <a:t>• High Compression Ratio: Drain3 online template miner achieves 95%+ data reduction by clustering raw logs into semantic templates.</a:t>
            </a:r>
            <a:br/>
            <a:r>
              <a:t>• Low Latency Overhead: HTTP p50 latency is ~116ms; end-to-end telemetry broadcast over WebSockets completes in &lt;120ms.</a:t>
            </a:r>
            <a:br/>
            <a:r>
              <a:t>• Optimal Decision Boundary: Exhaustive threshold sweep identified -0.075 as optimal, yielding 81.25% precision and 86.67% recall.</a:t>
            </a:r>
            <a:br/>
            <a:r>
              <a:t>• Resource Efficiency: Average memory utilization stays under 52MB RSS, running stably under high concurrency (50 parallel workers).</a:t>
            </a:r>
          </a:p>
        </p:txBody>
      </p:sp>
      <p:sp>
        <p:nvSpPr>
          <p:cNvPr id="17" name="Rounded Rectangle 16"/>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95%+ Log Compression | 0.959 ROC-AUC | 81.25% Precision | &lt;52MB RAM Footprint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SOLUTION</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#5 (3 Numbered Solution Cards)</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The LogSentinel Solution: Autonomous Triad</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Stream Processing + Unsupervised ML + Causal Graph Theory</a:t>
            </a:r>
          </a:p>
        </p:txBody>
      </p:sp>
      <p:sp>
        <p:nvSpPr>
          <p:cNvPr id="7" name="Rounded Rectangle 6"/>
          <p:cNvSpPr/>
          <p:nvPr/>
        </p:nvSpPr>
        <p:spPr>
          <a:xfrm>
            <a:off x="731520" y="1828800"/>
            <a:ext cx="3383280" cy="3931920"/>
          </a:xfrm>
          <a:prstGeom prst="roundRect">
            <a:avLst/>
          </a:prstGeom>
          <a:solidFill>
            <a:srgbClr val="161F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11680"/>
            <a:ext cx="548640" cy="5486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548640" cy="457200"/>
          </a:xfrm>
          <a:prstGeom prst="rect">
            <a:avLst/>
          </a:prstGeom>
          <a:noFill/>
        </p:spPr>
        <p:txBody>
          <a:bodyPr wrap="none">
            <a:spAutoFit/>
          </a:bodyPr>
          <a:lstStyle/>
          <a:p>
            <a:pPr algn="ctr">
              <a:defRPr sz="1400" b="1">
                <a:solidFill>
                  <a:srgbClr val="FFFFFF"/>
                </a:solidFill>
                <a:latin typeface="Trebuchet MS"/>
              </a:defRPr>
            </a:pPr>
            <a:r>
              <a:t>1</a:t>
            </a:r>
          </a:p>
        </p:txBody>
      </p:sp>
      <p:sp>
        <p:nvSpPr>
          <p:cNvPr id="10" name="TextBox 9"/>
          <p:cNvSpPr txBox="1"/>
          <p:nvPr/>
        </p:nvSpPr>
        <p:spPr>
          <a:xfrm>
            <a:off x="1005840" y="2743200"/>
            <a:ext cx="2834640" cy="2834640"/>
          </a:xfrm>
          <a:prstGeom prst="rect">
            <a:avLst/>
          </a:prstGeom>
          <a:noFill/>
        </p:spPr>
        <p:txBody>
          <a:bodyPr wrap="square">
            <a:spAutoFit/>
          </a:bodyPr>
          <a:lstStyle/>
          <a:p>
            <a:pPr>
              <a:defRPr sz="1600" b="1">
                <a:solidFill>
                  <a:srgbClr val="FFFFFF"/>
                </a:solidFill>
                <a:latin typeface="Trebuchet MS"/>
              </a:defRPr>
            </a:pPr>
            <a:r>
              <a:t>Stream Ingestion &amp; Mining</a:t>
            </a:r>
          </a:p>
          <a:p>
            <a:pPr>
              <a:defRPr sz="1100" i="1">
                <a:solidFill>
                  <a:srgbClr val="10B981"/>
                </a:solidFill>
                <a:latin typeface="Calibri"/>
              </a:defRPr>
            </a:pPr>
            <a:r>
              <a:t>Valkey Buffer &amp; Drain3</a:t>
            </a:r>
          </a:p>
          <a:p>
            <a:br/>
            <a:pPr>
              <a:defRPr sz="1000">
                <a:solidFill>
                  <a:srgbClr val="E2E8F0"/>
                </a:solidFill>
                <a:latin typeface="Calibri"/>
              </a:defRPr>
            </a:pPr>
            <a:r>
              <a:t>• Universal ingestion via OpenTelemetry (OTLP), Fluent Bit, Vector, and Python SDK.</a:t>
            </a:r>
            <a:br/>
            <a:br/>
            <a:r>
              <a:t>• Non-blocking Valkey memory stream buffer (XADD) prevents ingestion bottlenecks.</a:t>
            </a:r>
            <a:br/>
            <a:br/>
            <a:r>
              <a:t>• Drain3 tree-based online miner compresses logs by 95% into structured templates in &lt;0.5ms.</a:t>
            </a:r>
          </a:p>
        </p:txBody>
      </p:sp>
      <p:sp>
        <p:nvSpPr>
          <p:cNvPr id="11" name="Rounded Rectangle 10"/>
          <p:cNvSpPr/>
          <p:nvPr/>
        </p:nvSpPr>
        <p:spPr>
          <a:xfrm>
            <a:off x="4389120" y="1828800"/>
            <a:ext cx="3383280" cy="3931920"/>
          </a:xfrm>
          <a:prstGeom prst="roundRect">
            <a:avLst/>
          </a:prstGeom>
          <a:solidFill>
            <a:srgbClr val="161F3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63440" y="2011680"/>
            <a:ext cx="548640" cy="5486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057400"/>
            <a:ext cx="548640" cy="457200"/>
          </a:xfrm>
          <a:prstGeom prst="rect">
            <a:avLst/>
          </a:prstGeom>
          <a:noFill/>
        </p:spPr>
        <p:txBody>
          <a:bodyPr wrap="none">
            <a:spAutoFit/>
          </a:bodyPr>
          <a:lstStyle/>
          <a:p>
            <a:pPr algn="ctr">
              <a:defRPr sz="1400" b="1">
                <a:solidFill>
                  <a:srgbClr val="FFFFFF"/>
                </a:solidFill>
                <a:latin typeface="Trebuchet MS"/>
              </a:defRPr>
            </a:pPr>
            <a:r>
              <a:t>2</a:t>
            </a:r>
          </a:p>
        </p:txBody>
      </p:sp>
      <p:sp>
        <p:nvSpPr>
          <p:cNvPr id="14" name="TextBox 13"/>
          <p:cNvSpPr txBox="1"/>
          <p:nvPr/>
        </p:nvSpPr>
        <p:spPr>
          <a:xfrm>
            <a:off x="4663440" y="2743200"/>
            <a:ext cx="2834640" cy="2834640"/>
          </a:xfrm>
          <a:prstGeom prst="rect">
            <a:avLst/>
          </a:prstGeom>
          <a:noFill/>
        </p:spPr>
        <p:txBody>
          <a:bodyPr wrap="square">
            <a:spAutoFit/>
          </a:bodyPr>
          <a:lstStyle/>
          <a:p>
            <a:pPr>
              <a:defRPr sz="1600" b="1">
                <a:solidFill>
                  <a:srgbClr val="FFFFFF"/>
                </a:solidFill>
                <a:latin typeface="Trebuchet MS"/>
              </a:defRPr>
            </a:pPr>
            <a:r>
              <a:t>Unsupervised Detection</a:t>
            </a:r>
          </a:p>
          <a:p>
            <a:pPr>
              <a:defRPr sz="1100" i="1">
                <a:solidFill>
                  <a:srgbClr val="3B82F6"/>
                </a:solidFill>
                <a:latin typeface="Calibri"/>
              </a:defRPr>
            </a:pPr>
            <a:r>
              <a:t>Sliding-Window iForest</a:t>
            </a:r>
          </a:p>
          <a:p>
            <a:br/>
            <a:pPr>
              <a:defRPr sz="1000">
                <a:solidFill>
                  <a:srgbClr val="E2E8F0"/>
                </a:solidFill>
                <a:latin typeface="Calibri"/>
              </a:defRPr>
            </a:pPr>
            <a:r>
              <a:t>• 60s sliding windows with 30s stride extract 12 statistical, entropy, and burst features.</a:t>
            </a:r>
            <a:br/>
            <a:br/>
            <a:r>
              <a:t>• Unsupervised Isolation Forest detects zero-day anomalies without training labels.</a:t>
            </a:r>
            <a:br/>
            <a:br/>
            <a:r>
              <a:t>• Eliminates brittle regex rules, threshold tuning, and manual alert configuration.</a:t>
            </a:r>
          </a:p>
        </p:txBody>
      </p:sp>
      <p:sp>
        <p:nvSpPr>
          <p:cNvPr id="15" name="Rounded Rectangle 14"/>
          <p:cNvSpPr/>
          <p:nvPr/>
        </p:nvSpPr>
        <p:spPr>
          <a:xfrm>
            <a:off x="8046720" y="1828800"/>
            <a:ext cx="3383280" cy="3931920"/>
          </a:xfrm>
          <a:prstGeom prst="roundRect">
            <a:avLst/>
          </a:prstGeom>
          <a:solidFill>
            <a:srgbClr val="161F30"/>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1040" y="2011680"/>
            <a:ext cx="548640" cy="54864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057400"/>
            <a:ext cx="548640" cy="457200"/>
          </a:xfrm>
          <a:prstGeom prst="rect">
            <a:avLst/>
          </a:prstGeom>
          <a:noFill/>
        </p:spPr>
        <p:txBody>
          <a:bodyPr wrap="none">
            <a:spAutoFit/>
          </a:bodyPr>
          <a:lstStyle/>
          <a:p>
            <a:pPr algn="ctr">
              <a:defRPr sz="1400" b="1">
                <a:solidFill>
                  <a:srgbClr val="FFFFFF"/>
                </a:solidFill>
                <a:latin typeface="Trebuchet MS"/>
              </a:defRPr>
            </a:pPr>
            <a:r>
              <a:t>3</a:t>
            </a:r>
          </a:p>
        </p:txBody>
      </p:sp>
      <p:sp>
        <p:nvSpPr>
          <p:cNvPr id="18" name="TextBox 17"/>
          <p:cNvSpPr txBox="1"/>
          <p:nvPr/>
        </p:nvSpPr>
        <p:spPr>
          <a:xfrm>
            <a:off x="8321040" y="2743200"/>
            <a:ext cx="2834640" cy="2834640"/>
          </a:xfrm>
          <a:prstGeom prst="rect">
            <a:avLst/>
          </a:prstGeom>
          <a:noFill/>
        </p:spPr>
        <p:txBody>
          <a:bodyPr wrap="square">
            <a:spAutoFit/>
          </a:bodyPr>
          <a:lstStyle/>
          <a:p>
            <a:pPr>
              <a:defRPr sz="1600" b="1">
                <a:solidFill>
                  <a:srgbClr val="FFFFFF"/>
                </a:solidFill>
                <a:latin typeface="Trebuchet MS"/>
              </a:defRPr>
            </a:pPr>
            <a:r>
              <a:t>Causal Topology &amp; Blast</a:t>
            </a:r>
          </a:p>
          <a:p>
            <a:pPr>
              <a:defRPr sz="1100" i="1">
                <a:solidFill>
                  <a:srgbClr val="8B5CF6"/>
                </a:solidFill>
                <a:latin typeface="Calibri"/>
              </a:defRPr>
            </a:pPr>
            <a:r>
              <a:t>NetworkX Directed Graph</a:t>
            </a:r>
          </a:p>
          <a:p>
            <a:br/>
            <a:pPr>
              <a:defRPr sz="1000">
                <a:solidFill>
                  <a:srgbClr val="E2E8F0"/>
                </a:solidFill>
                <a:latin typeface="Calibri"/>
              </a:defRPr>
            </a:pPr>
            <a:r>
              <a:t>• Reconstructs service dependency topology dynamically from live runtime traffic.</a:t>
            </a:r>
            <a:br/>
            <a:br/>
            <a:r>
              <a:t>• Ranks the upstream root cause and measures downstream blast radius.</a:t>
            </a:r>
            <a:br/>
            <a:br/>
            <a:r>
              <a:t>• Broadcasts incident alerts via WebSockets to React dashboard in under 120ms.</a:t>
            </a:r>
          </a:p>
        </p:txBody>
      </p:sp>
      <p:sp>
        <p:nvSpPr>
          <p:cNvPr id="19" name="Rounded Rectangle 18"/>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Zero Manual Rules | O(1) Memory Ingestion Buffer | Sub-120ms End-to-End Latency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PHASES</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FlutterForecast #6 (5 Connected Milestone Steps)</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Engineering Lifecycle &amp; Solution Phases</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From Algorithmic Theory to Production Hardening</a:t>
            </a:r>
          </a:p>
        </p:txBody>
      </p:sp>
      <p:sp>
        <p:nvSpPr>
          <p:cNvPr id="7" name="Rectangle 6"/>
          <p:cNvSpPr/>
          <p:nvPr/>
        </p:nvSpPr>
        <p:spPr>
          <a:xfrm>
            <a:off x="1371600" y="2468880"/>
            <a:ext cx="9418320" cy="731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1560" y="1828800"/>
            <a:ext cx="1325880" cy="1325880"/>
          </a:xfrm>
          <a:prstGeom prst="ellipse">
            <a:avLst/>
          </a:prstGeom>
          <a:solidFill>
            <a:srgbClr val="161F30"/>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94560"/>
            <a:ext cx="1325880" cy="640080"/>
          </a:xfrm>
          <a:prstGeom prst="rect">
            <a:avLst/>
          </a:prstGeom>
          <a:noFill/>
        </p:spPr>
        <p:txBody>
          <a:bodyPr wrap="none">
            <a:spAutoFit/>
          </a:bodyPr>
          <a:lstStyle/>
          <a:p>
            <a:pPr algn="ctr">
              <a:defRPr sz="2200" b="1">
                <a:solidFill>
                  <a:srgbClr val="10B981"/>
                </a:solidFill>
                <a:latin typeface="Consolas"/>
              </a:defRPr>
            </a:pPr>
            <a:r>
              <a:t>01</a:t>
            </a:r>
          </a:p>
        </p:txBody>
      </p:sp>
      <p:sp>
        <p:nvSpPr>
          <p:cNvPr id="10" name="Rounded Rectangle 9"/>
          <p:cNvSpPr/>
          <p:nvPr/>
        </p:nvSpPr>
        <p:spPr>
          <a:xfrm>
            <a:off x="731520" y="3383280"/>
            <a:ext cx="1965960" cy="2377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474720"/>
            <a:ext cx="1783080" cy="2194560"/>
          </a:xfrm>
          <a:prstGeom prst="rect">
            <a:avLst/>
          </a:prstGeom>
          <a:noFill/>
        </p:spPr>
        <p:txBody>
          <a:bodyPr wrap="square">
            <a:spAutoFit/>
          </a:bodyPr>
          <a:lstStyle/>
          <a:p>
            <a:pPr algn="ctr">
              <a:defRPr sz="1200" b="1">
                <a:solidFill>
                  <a:srgbClr val="FFFFFF"/>
                </a:solidFill>
                <a:latin typeface="Trebuchet MS"/>
              </a:defRPr>
            </a:pPr>
            <a:r>
              <a:t>Intensive</a:t>
            </a:r>
            <a:br/>
            <a:r>
              <a:t>Research</a:t>
            </a:r>
          </a:p>
          <a:p>
            <a:br/>
            <a:pPr algn="ctr">
              <a:defRPr sz="950">
                <a:solidFill>
                  <a:srgbClr val="94A3B8"/>
                </a:solidFill>
                <a:latin typeface="Calibri"/>
              </a:defRPr>
            </a:pPr>
            <a:r>
              <a:t>Drain3 depth &amp; Isolation Forest hyperparameter tuning.</a:t>
            </a:r>
          </a:p>
        </p:txBody>
      </p:sp>
      <p:sp>
        <p:nvSpPr>
          <p:cNvPr id="12" name="Oval 11"/>
          <p:cNvSpPr/>
          <p:nvPr/>
        </p:nvSpPr>
        <p:spPr>
          <a:xfrm>
            <a:off x="3236976" y="1828800"/>
            <a:ext cx="1325880" cy="1325880"/>
          </a:xfrm>
          <a:prstGeom prst="ellipse">
            <a:avLst/>
          </a:prstGeom>
          <a:solidFill>
            <a:srgbClr val="161F30"/>
          </a:solidFill>
          <a:ln w="317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36976" y="2194560"/>
            <a:ext cx="1325880" cy="640080"/>
          </a:xfrm>
          <a:prstGeom prst="rect">
            <a:avLst/>
          </a:prstGeom>
          <a:noFill/>
        </p:spPr>
        <p:txBody>
          <a:bodyPr wrap="none">
            <a:spAutoFit/>
          </a:bodyPr>
          <a:lstStyle/>
          <a:p>
            <a:pPr algn="ctr">
              <a:defRPr sz="2200" b="1">
                <a:solidFill>
                  <a:srgbClr val="06B6D4"/>
                </a:solidFill>
                <a:latin typeface="Consolas"/>
              </a:defRPr>
            </a:pPr>
            <a:r>
              <a:t>02</a:t>
            </a:r>
          </a:p>
        </p:txBody>
      </p:sp>
      <p:sp>
        <p:nvSpPr>
          <p:cNvPr id="14" name="Rounded Rectangle 13"/>
          <p:cNvSpPr/>
          <p:nvPr/>
        </p:nvSpPr>
        <p:spPr>
          <a:xfrm>
            <a:off x="2916936" y="3383280"/>
            <a:ext cx="1965960" cy="2377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8376" y="3474720"/>
            <a:ext cx="1783080" cy="2194560"/>
          </a:xfrm>
          <a:prstGeom prst="rect">
            <a:avLst/>
          </a:prstGeom>
          <a:noFill/>
        </p:spPr>
        <p:txBody>
          <a:bodyPr wrap="square">
            <a:spAutoFit/>
          </a:bodyPr>
          <a:lstStyle/>
          <a:p>
            <a:pPr algn="ctr">
              <a:defRPr sz="1200" b="1">
                <a:solidFill>
                  <a:srgbClr val="FFFFFF"/>
                </a:solidFill>
                <a:latin typeface="Trebuchet MS"/>
              </a:defRPr>
            </a:pPr>
            <a:r>
              <a:t>Data Ingestion &amp;</a:t>
            </a:r>
            <a:br/>
            <a:r>
              <a:t>Preprocessing</a:t>
            </a:r>
          </a:p>
          <a:p>
            <a:br/>
            <a:pPr algn="ctr">
              <a:defRPr sz="950">
                <a:solidFill>
                  <a:srgbClr val="94A3B8"/>
                </a:solidFill>
                <a:latin typeface="Calibri"/>
              </a:defRPr>
            </a:pPr>
            <a:r>
              <a:t>OTLP, Fluent Bit, Vector sinks &amp; token sanitization.</a:t>
            </a:r>
          </a:p>
        </p:txBody>
      </p:sp>
      <p:sp>
        <p:nvSpPr>
          <p:cNvPr id="16" name="Oval 15"/>
          <p:cNvSpPr/>
          <p:nvPr/>
        </p:nvSpPr>
        <p:spPr>
          <a:xfrm>
            <a:off x="5422392" y="1828800"/>
            <a:ext cx="1325880" cy="1325880"/>
          </a:xfrm>
          <a:prstGeom prst="ellipse">
            <a:avLst/>
          </a:prstGeom>
          <a:solidFill>
            <a:srgbClr val="161F30"/>
          </a:solidFill>
          <a:ln w="317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22392" y="2194560"/>
            <a:ext cx="1325880" cy="640080"/>
          </a:xfrm>
          <a:prstGeom prst="rect">
            <a:avLst/>
          </a:prstGeom>
          <a:noFill/>
        </p:spPr>
        <p:txBody>
          <a:bodyPr wrap="none">
            <a:spAutoFit/>
          </a:bodyPr>
          <a:lstStyle/>
          <a:p>
            <a:pPr algn="ctr">
              <a:defRPr sz="2200" b="1">
                <a:solidFill>
                  <a:srgbClr val="3B82F6"/>
                </a:solidFill>
                <a:latin typeface="Consolas"/>
              </a:defRPr>
            </a:pPr>
            <a:r>
              <a:t>03</a:t>
            </a:r>
          </a:p>
        </p:txBody>
      </p:sp>
      <p:sp>
        <p:nvSpPr>
          <p:cNvPr id="18" name="Rounded Rectangle 17"/>
          <p:cNvSpPr/>
          <p:nvPr/>
        </p:nvSpPr>
        <p:spPr>
          <a:xfrm>
            <a:off x="5102352" y="3383280"/>
            <a:ext cx="1965960" cy="2377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3792" y="3474720"/>
            <a:ext cx="1783080" cy="2194560"/>
          </a:xfrm>
          <a:prstGeom prst="rect">
            <a:avLst/>
          </a:prstGeom>
          <a:noFill/>
        </p:spPr>
        <p:txBody>
          <a:bodyPr wrap="square">
            <a:spAutoFit/>
          </a:bodyPr>
          <a:lstStyle/>
          <a:p>
            <a:pPr algn="ctr">
              <a:defRPr sz="1200" b="1">
                <a:solidFill>
                  <a:srgbClr val="FFFFFF"/>
                </a:solidFill>
                <a:latin typeface="Trebuchet MS"/>
              </a:defRPr>
            </a:pPr>
            <a:r>
              <a:t>ML &amp; Causal</a:t>
            </a:r>
            <a:br/>
            <a:r>
              <a:t>Engine</a:t>
            </a:r>
          </a:p>
          <a:p>
            <a:br/>
            <a:pPr algn="ctr">
              <a:defRPr sz="950">
                <a:solidFill>
                  <a:srgbClr val="94A3B8"/>
                </a:solidFill>
                <a:latin typeface="Calibri"/>
              </a:defRPr>
            </a:pPr>
            <a:r>
              <a:t>12-feature sliding vectors &amp; NetworkX causal graph.</a:t>
            </a:r>
          </a:p>
        </p:txBody>
      </p:sp>
      <p:sp>
        <p:nvSpPr>
          <p:cNvPr id="20" name="Oval 19"/>
          <p:cNvSpPr/>
          <p:nvPr/>
        </p:nvSpPr>
        <p:spPr>
          <a:xfrm>
            <a:off x="7607808" y="1828800"/>
            <a:ext cx="1325880" cy="1325880"/>
          </a:xfrm>
          <a:prstGeom prst="ellipse">
            <a:avLst/>
          </a:prstGeom>
          <a:solidFill>
            <a:srgbClr val="161F30"/>
          </a:solidFill>
          <a:ln w="317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7808" y="2194560"/>
            <a:ext cx="1325880" cy="640080"/>
          </a:xfrm>
          <a:prstGeom prst="rect">
            <a:avLst/>
          </a:prstGeom>
          <a:noFill/>
        </p:spPr>
        <p:txBody>
          <a:bodyPr wrap="none">
            <a:spAutoFit/>
          </a:bodyPr>
          <a:lstStyle/>
          <a:p>
            <a:pPr algn="ctr">
              <a:defRPr sz="2200" b="1">
                <a:solidFill>
                  <a:srgbClr val="8B5CF6"/>
                </a:solidFill>
                <a:latin typeface="Consolas"/>
              </a:defRPr>
            </a:pPr>
            <a:r>
              <a:t>04</a:t>
            </a:r>
          </a:p>
        </p:txBody>
      </p:sp>
      <p:sp>
        <p:nvSpPr>
          <p:cNvPr id="22" name="Rounded Rectangle 21"/>
          <p:cNvSpPr/>
          <p:nvPr/>
        </p:nvSpPr>
        <p:spPr>
          <a:xfrm>
            <a:off x="7287768" y="3383280"/>
            <a:ext cx="1965960" cy="2377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79208" y="3474720"/>
            <a:ext cx="1783080" cy="2194560"/>
          </a:xfrm>
          <a:prstGeom prst="rect">
            <a:avLst/>
          </a:prstGeom>
          <a:noFill/>
        </p:spPr>
        <p:txBody>
          <a:bodyPr wrap="square">
            <a:spAutoFit/>
          </a:bodyPr>
          <a:lstStyle/>
          <a:p>
            <a:pPr algn="ctr">
              <a:defRPr sz="1200" b="1">
                <a:solidFill>
                  <a:srgbClr val="FFFFFF"/>
                </a:solidFill>
                <a:latin typeface="Trebuchet MS"/>
              </a:defRPr>
            </a:pPr>
            <a:r>
              <a:t>Full-Stack</a:t>
            </a:r>
            <a:br/>
            <a:r>
              <a:t>Development</a:t>
            </a:r>
          </a:p>
          <a:p>
            <a:br/>
            <a:pPr algn="ctr">
              <a:defRPr sz="950">
                <a:solidFill>
                  <a:srgbClr val="94A3B8"/>
                </a:solidFill>
                <a:latin typeface="Calibri"/>
              </a:defRPr>
            </a:pPr>
            <a:r>
              <a:t>FastAPI async backend &amp; React 18 / Cytoscape dashboard.</a:t>
            </a:r>
          </a:p>
        </p:txBody>
      </p:sp>
      <p:sp>
        <p:nvSpPr>
          <p:cNvPr id="24" name="Oval 23"/>
          <p:cNvSpPr/>
          <p:nvPr/>
        </p:nvSpPr>
        <p:spPr>
          <a:xfrm>
            <a:off x="9793224" y="1828800"/>
            <a:ext cx="1325880" cy="1325880"/>
          </a:xfrm>
          <a:prstGeom prst="ellipse">
            <a:avLst/>
          </a:prstGeom>
          <a:solidFill>
            <a:srgbClr val="161F30"/>
          </a:solidFill>
          <a:ln w="317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93224" y="2194560"/>
            <a:ext cx="1325880" cy="640080"/>
          </a:xfrm>
          <a:prstGeom prst="rect">
            <a:avLst/>
          </a:prstGeom>
          <a:noFill/>
        </p:spPr>
        <p:txBody>
          <a:bodyPr wrap="none">
            <a:spAutoFit/>
          </a:bodyPr>
          <a:lstStyle/>
          <a:p>
            <a:pPr algn="ctr">
              <a:defRPr sz="2200" b="1">
                <a:solidFill>
                  <a:srgbClr val="F97316"/>
                </a:solidFill>
                <a:latin typeface="Consolas"/>
              </a:defRPr>
            </a:pPr>
            <a:r>
              <a:t>05</a:t>
            </a:r>
          </a:p>
        </p:txBody>
      </p:sp>
      <p:sp>
        <p:nvSpPr>
          <p:cNvPr id="26" name="Rounded Rectangle 25"/>
          <p:cNvSpPr/>
          <p:nvPr/>
        </p:nvSpPr>
        <p:spPr>
          <a:xfrm>
            <a:off x="9473184" y="3383280"/>
            <a:ext cx="1965960" cy="2377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64624" y="3474720"/>
            <a:ext cx="1783080" cy="2194560"/>
          </a:xfrm>
          <a:prstGeom prst="rect">
            <a:avLst/>
          </a:prstGeom>
          <a:noFill/>
        </p:spPr>
        <p:txBody>
          <a:bodyPr wrap="square">
            <a:spAutoFit/>
          </a:bodyPr>
          <a:lstStyle/>
          <a:p>
            <a:pPr algn="ctr">
              <a:defRPr sz="1200" b="1">
                <a:solidFill>
                  <a:srgbClr val="FFFFFF"/>
                </a:solidFill>
                <a:latin typeface="Trebuchet MS"/>
              </a:defRPr>
            </a:pPr>
            <a:r>
              <a:t>Chaos Testing &amp;</a:t>
            </a:r>
            <a:br/>
            <a:r>
              <a:t>Hardening</a:t>
            </a:r>
          </a:p>
          <a:p>
            <a:br/>
            <a:pPr algn="ctr">
              <a:defRPr sz="950">
                <a:solidFill>
                  <a:srgbClr val="94A3B8"/>
                </a:solidFill>
                <a:latin typeface="Calibri"/>
              </a:defRPr>
            </a:pPr>
            <a:r>
              <a:t>Synthetic chaos injection, benchmarks &amp; Docker fleet.</a:t>
            </a:r>
          </a:p>
        </p:txBody>
      </p:sp>
      <p:sp>
        <p:nvSpPr>
          <p:cNvPr id="28" name="Rounded Rectangle 27"/>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5 Phased Milestones | 100% Turnkey Deployment via Docker Compose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FRONTEND</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#6 (3 Vertical Columns)</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Technologies: Front-End Architecture</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High-Performance Reactive UI with Dynamic Topological Visualization</a:t>
            </a:r>
          </a:p>
        </p:txBody>
      </p:sp>
      <p:sp>
        <p:nvSpPr>
          <p:cNvPr id="7" name="Rounded Rectangle 6"/>
          <p:cNvSpPr/>
          <p:nvPr/>
        </p:nvSpPr>
        <p:spPr>
          <a:xfrm>
            <a:off x="731520" y="1828800"/>
            <a:ext cx="3383280" cy="393192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11680"/>
            <a:ext cx="2926080" cy="3566160"/>
          </a:xfrm>
          <a:prstGeom prst="rect">
            <a:avLst/>
          </a:prstGeom>
          <a:noFill/>
        </p:spPr>
        <p:txBody>
          <a:bodyPr wrap="square">
            <a:spAutoFit/>
          </a:bodyPr>
          <a:lstStyle/>
          <a:p>
            <a:pPr>
              <a:defRPr sz="1600" b="1">
                <a:solidFill>
                  <a:srgbClr val="06B6D4"/>
                </a:solidFill>
                <a:latin typeface="Trebuchet MS"/>
              </a:defRPr>
            </a:pPr>
            <a:r>
              <a:t>REACT 18 &amp; VITE 6</a:t>
            </a:r>
          </a:p>
          <a:p>
            <a:br/>
            <a:pPr>
              <a:defRPr sz="1100">
                <a:solidFill>
                  <a:srgbClr val="E2E8F0"/>
                </a:solidFill>
                <a:latin typeface="Calibri"/>
              </a:defRPr>
            </a:pPr>
            <a:r>
              <a:t>• Component-driven UI with concurrent rendering.</a:t>
            </a:r>
          </a:p>
          <a:p>
            <a:br/>
            <a:pPr>
              <a:defRPr sz="1100">
                <a:solidFill>
                  <a:srgbClr val="E2E8F0"/>
                </a:solidFill>
                <a:latin typeface="Calibri"/>
              </a:defRPr>
            </a:pPr>
            <a:r>
              <a:t>• Ultra-fast Vite HMR build system (&lt;300ms rebuilds).</a:t>
            </a:r>
          </a:p>
          <a:p>
            <a:br/>
            <a:pPr>
              <a:defRPr sz="1100">
                <a:solidFill>
                  <a:srgbClr val="E2E8F0"/>
                </a:solidFill>
                <a:latin typeface="Calibri"/>
              </a:defRPr>
            </a:pPr>
            <a:r>
              <a:t>• Strict TypeScript typing for all telemetry models.</a:t>
            </a:r>
          </a:p>
          <a:p>
            <a:br/>
            <a:pPr>
              <a:defRPr sz="1100">
                <a:solidFill>
                  <a:srgbClr val="E2E8F0"/>
                </a:solidFill>
                <a:latin typeface="Calibri"/>
              </a:defRPr>
            </a:pPr>
            <a:r>
              <a:t>• Optimized bundle size with code splitting.</a:t>
            </a:r>
          </a:p>
        </p:txBody>
      </p:sp>
      <p:sp>
        <p:nvSpPr>
          <p:cNvPr id="9" name="Rounded Rectangle 8"/>
          <p:cNvSpPr/>
          <p:nvPr/>
        </p:nvSpPr>
        <p:spPr>
          <a:xfrm>
            <a:off x="4389120" y="1828800"/>
            <a:ext cx="3383280" cy="3931920"/>
          </a:xfrm>
          <a:prstGeom prst="roundRect">
            <a:avLst/>
          </a:prstGeom>
          <a:solidFill>
            <a:srgbClr val="161F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011680"/>
            <a:ext cx="2926080" cy="3566160"/>
          </a:xfrm>
          <a:prstGeom prst="rect">
            <a:avLst/>
          </a:prstGeom>
          <a:noFill/>
        </p:spPr>
        <p:txBody>
          <a:bodyPr wrap="square">
            <a:spAutoFit/>
          </a:bodyPr>
          <a:lstStyle/>
          <a:p>
            <a:pPr>
              <a:defRPr sz="1600" b="1">
                <a:solidFill>
                  <a:srgbClr val="F59E0B"/>
                </a:solidFill>
                <a:latin typeface="Trebuchet MS"/>
              </a:defRPr>
            </a:pPr>
            <a:r>
              <a:t>TAILWIND CSS &amp; MOTION</a:t>
            </a:r>
          </a:p>
          <a:p>
            <a:br/>
            <a:pPr>
              <a:defRPr sz="1100">
                <a:solidFill>
                  <a:srgbClr val="E2E8F0"/>
                </a:solidFill>
                <a:latin typeface="Calibri"/>
              </a:defRPr>
            </a:pPr>
            <a:r>
              <a:t>• Cyberpunk-sleek dark mode design (#0B1120).</a:t>
            </a:r>
          </a:p>
          <a:p>
            <a:br/>
            <a:pPr>
              <a:defRPr sz="1100">
                <a:solidFill>
                  <a:srgbClr val="E2E8F0"/>
                </a:solidFill>
                <a:latin typeface="Calibri"/>
              </a:defRPr>
            </a:pPr>
            <a:r>
              <a:t>• Responsive glassmorphic panels and metrics cards.</a:t>
            </a:r>
          </a:p>
          <a:p>
            <a:br/>
            <a:pPr>
              <a:defRPr sz="1100">
                <a:solidFill>
                  <a:srgbClr val="E2E8F0"/>
                </a:solidFill>
                <a:latin typeface="Calibri"/>
              </a:defRPr>
            </a:pPr>
            <a:r>
              <a:t>• Fluid micro-animations for live alert pulses.</a:t>
            </a:r>
          </a:p>
          <a:p>
            <a:br/>
            <a:pPr>
              <a:defRPr sz="1100">
                <a:solidFill>
                  <a:srgbClr val="E2E8F0"/>
                </a:solidFill>
                <a:latin typeface="Calibri"/>
              </a:defRPr>
            </a:pPr>
            <a:r>
              <a:t>• Accessible high-contrast status badges.</a:t>
            </a:r>
          </a:p>
        </p:txBody>
      </p:sp>
      <p:sp>
        <p:nvSpPr>
          <p:cNvPr id="11" name="Rounded Rectangle 10"/>
          <p:cNvSpPr/>
          <p:nvPr/>
        </p:nvSpPr>
        <p:spPr>
          <a:xfrm>
            <a:off x="8046720" y="1828800"/>
            <a:ext cx="3383280" cy="3931920"/>
          </a:xfrm>
          <a:prstGeom prst="roundRect">
            <a:avLst/>
          </a:prstGeom>
          <a:solidFill>
            <a:srgbClr val="161F3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011680"/>
            <a:ext cx="2926080" cy="3566160"/>
          </a:xfrm>
          <a:prstGeom prst="rect">
            <a:avLst/>
          </a:prstGeom>
          <a:noFill/>
        </p:spPr>
        <p:txBody>
          <a:bodyPr wrap="square">
            <a:spAutoFit/>
          </a:bodyPr>
          <a:lstStyle/>
          <a:p>
            <a:pPr>
              <a:defRPr sz="1600" b="1">
                <a:solidFill>
                  <a:srgbClr val="3B82F6"/>
                </a:solidFill>
                <a:latin typeface="Trebuchet MS"/>
              </a:defRPr>
            </a:pPr>
            <a:r>
              <a:t>CYTOSCAPE &amp; @XYFLOW</a:t>
            </a:r>
          </a:p>
          <a:p>
            <a:br/>
            <a:pPr>
              <a:defRPr sz="1100">
                <a:solidFill>
                  <a:srgbClr val="E2E8F0"/>
                </a:solidFill>
                <a:latin typeface="Calibri"/>
              </a:defRPr>
            </a:pPr>
            <a:r>
              <a:t>• Dynamic topological graph for microservices.</a:t>
            </a:r>
          </a:p>
          <a:p>
            <a:br/>
            <a:pPr>
              <a:defRPr sz="1100">
                <a:solidFill>
                  <a:srgbClr val="E2E8F0"/>
                </a:solidFill>
                <a:latin typeface="Calibri"/>
              </a:defRPr>
            </a:pPr>
            <a:r>
              <a:t>• Real-time node coloring (Green, Amber, Red).</a:t>
            </a:r>
          </a:p>
          <a:p>
            <a:br/>
            <a:pPr>
              <a:defRPr sz="1100">
                <a:solidFill>
                  <a:srgbClr val="E2E8F0"/>
                </a:solidFill>
                <a:latin typeface="Calibri"/>
              </a:defRPr>
            </a:pPr>
            <a:r>
              <a:t>• Causal path tracing and interactive click-through.</a:t>
            </a:r>
          </a:p>
          <a:p>
            <a:br/>
            <a:pPr>
              <a:defRPr sz="1100">
                <a:solidFill>
                  <a:srgbClr val="E2E8F0"/>
                </a:solidFill>
                <a:latin typeface="Calibri"/>
              </a:defRPr>
            </a:pPr>
            <a:r>
              <a:t>• Smooth 60 FPS hardware-accelerated rendering.</a:t>
            </a:r>
          </a:p>
        </p:txBody>
      </p:sp>
      <p:sp>
        <p:nvSpPr>
          <p:cNvPr id="13" name="Rounded Rectangle 12"/>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60 FPS Graph Rendering | Instant Live WebSocket Updates | Fully Responsive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BACKEND</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#7 (3 Vertical Columns)</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Technologies: Back-End &amp; Data Pipeline</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High-Throughput Asynchronous Core, In-Memory Streams, and Time-Series Store</a:t>
            </a:r>
          </a:p>
        </p:txBody>
      </p:sp>
      <p:sp>
        <p:nvSpPr>
          <p:cNvPr id="7" name="Rounded Rectangle 6"/>
          <p:cNvSpPr/>
          <p:nvPr/>
        </p:nvSpPr>
        <p:spPr>
          <a:xfrm>
            <a:off x="731520" y="1828800"/>
            <a:ext cx="3383280" cy="3931920"/>
          </a:xfrm>
          <a:prstGeom prst="roundRect">
            <a:avLst/>
          </a:prstGeom>
          <a:solidFill>
            <a:srgbClr val="161F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11680"/>
            <a:ext cx="2926080" cy="3566160"/>
          </a:xfrm>
          <a:prstGeom prst="rect">
            <a:avLst/>
          </a:prstGeom>
          <a:noFill/>
        </p:spPr>
        <p:txBody>
          <a:bodyPr wrap="square">
            <a:spAutoFit/>
          </a:bodyPr>
          <a:lstStyle/>
          <a:p>
            <a:pPr>
              <a:defRPr sz="1600" b="1">
                <a:solidFill>
                  <a:srgbClr val="10B981"/>
                </a:solidFill>
                <a:latin typeface="Trebuchet MS"/>
              </a:defRPr>
            </a:pPr>
            <a:r>
              <a:t>PYTHON 3.11 &amp; FASTAPI</a:t>
            </a:r>
          </a:p>
          <a:p>
            <a:br/>
            <a:pPr>
              <a:defRPr sz="1100">
                <a:solidFill>
                  <a:srgbClr val="E2E8F0"/>
                </a:solidFill>
                <a:latin typeface="Calibri"/>
              </a:defRPr>
            </a:pPr>
            <a:r>
              <a:t>• Asynchronous ASGI event loop handling high concurrency.</a:t>
            </a:r>
          </a:p>
          <a:p>
            <a:br/>
            <a:pPr>
              <a:defRPr sz="1100">
                <a:solidFill>
                  <a:srgbClr val="E2E8F0"/>
                </a:solidFill>
                <a:latin typeface="Calibri"/>
              </a:defRPr>
            </a:pPr>
            <a:r>
              <a:t>• Strict Pydantic v2 data validation schemas.</a:t>
            </a:r>
          </a:p>
          <a:p>
            <a:br/>
            <a:pPr>
              <a:defRPr sz="1100">
                <a:solidFill>
                  <a:srgbClr val="E2E8F0"/>
                </a:solidFill>
                <a:latin typeface="Calibri"/>
              </a:defRPr>
            </a:pPr>
            <a:r>
              <a:t>• Native WebSocket server (/ws/telemetry) broadcast.</a:t>
            </a:r>
          </a:p>
          <a:p>
            <a:br/>
            <a:pPr>
              <a:defRPr sz="1100">
                <a:solidFill>
                  <a:srgbClr val="E2E8F0"/>
                </a:solidFill>
                <a:latin typeface="Calibri"/>
              </a:defRPr>
            </a:pPr>
            <a:r>
              <a:t>• Comprehensive Prometheus metrics instrumentation.</a:t>
            </a:r>
          </a:p>
        </p:txBody>
      </p:sp>
      <p:sp>
        <p:nvSpPr>
          <p:cNvPr id="9" name="Rounded Rectangle 8"/>
          <p:cNvSpPr/>
          <p:nvPr/>
        </p:nvSpPr>
        <p:spPr>
          <a:xfrm>
            <a:off x="4389120" y="1828800"/>
            <a:ext cx="3383280" cy="3931920"/>
          </a:xfrm>
          <a:prstGeom prst="roundRect">
            <a:avLst/>
          </a:prstGeom>
          <a:solidFill>
            <a:srgbClr val="161F30"/>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011680"/>
            <a:ext cx="2926080" cy="3566160"/>
          </a:xfrm>
          <a:prstGeom prst="rect">
            <a:avLst/>
          </a:prstGeom>
          <a:noFill/>
        </p:spPr>
        <p:txBody>
          <a:bodyPr wrap="square">
            <a:spAutoFit/>
          </a:bodyPr>
          <a:lstStyle/>
          <a:p>
            <a:pPr>
              <a:defRPr sz="1600" b="1">
                <a:solidFill>
                  <a:srgbClr val="F97316"/>
                </a:solidFill>
                <a:latin typeface="Trebuchet MS"/>
              </a:defRPr>
            </a:pPr>
            <a:r>
              <a:t>VALKEY 8.0 &amp; STREAMS</a:t>
            </a:r>
          </a:p>
          <a:p>
            <a:br/>
            <a:pPr>
              <a:defRPr sz="1100">
                <a:solidFill>
                  <a:srgbClr val="E2E8F0"/>
                </a:solidFill>
                <a:latin typeface="Calibri"/>
              </a:defRPr>
            </a:pPr>
            <a:r>
              <a:t>• High-throughput XADD ingestion buffer (O(1) async).</a:t>
            </a:r>
          </a:p>
          <a:p>
            <a:br/>
            <a:pPr>
              <a:defRPr sz="1100">
                <a:solidFill>
                  <a:srgbClr val="E2E8F0"/>
                </a:solidFill>
                <a:latin typeface="Calibri"/>
              </a:defRPr>
            </a:pPr>
            <a:r>
              <a:t>• Decoupled asynchronous worker consumer groups.</a:t>
            </a:r>
          </a:p>
          <a:p>
            <a:br/>
            <a:pPr>
              <a:defRPr sz="1100">
                <a:solidFill>
                  <a:srgbClr val="E2E8F0"/>
                </a:solidFill>
                <a:latin typeface="Calibri"/>
              </a:defRPr>
            </a:pPr>
            <a:r>
              <a:t>• Eliminates ingestion backpressure during traffic spikes.</a:t>
            </a:r>
          </a:p>
          <a:p>
            <a:br/>
            <a:pPr>
              <a:defRPr sz="1100">
                <a:solidFill>
                  <a:srgbClr val="E2E8F0"/>
                </a:solidFill>
                <a:latin typeface="Calibri"/>
              </a:defRPr>
            </a:pPr>
            <a:r>
              <a:t>• Distributed in-memory caching and rate limiting.</a:t>
            </a:r>
          </a:p>
        </p:txBody>
      </p:sp>
      <p:sp>
        <p:nvSpPr>
          <p:cNvPr id="11" name="Rounded Rectangle 10"/>
          <p:cNvSpPr/>
          <p:nvPr/>
        </p:nvSpPr>
        <p:spPr>
          <a:xfrm>
            <a:off x="8046720" y="1828800"/>
            <a:ext cx="3383280" cy="3931920"/>
          </a:xfrm>
          <a:prstGeom prst="roundRect">
            <a:avLst/>
          </a:prstGeom>
          <a:solidFill>
            <a:srgbClr val="161F30"/>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011680"/>
            <a:ext cx="2926080" cy="3566160"/>
          </a:xfrm>
          <a:prstGeom prst="rect">
            <a:avLst/>
          </a:prstGeom>
          <a:noFill/>
        </p:spPr>
        <p:txBody>
          <a:bodyPr wrap="square">
            <a:spAutoFit/>
          </a:bodyPr>
          <a:lstStyle/>
          <a:p>
            <a:pPr>
              <a:defRPr sz="1600" b="1">
                <a:solidFill>
                  <a:srgbClr val="8B5CF6"/>
                </a:solidFill>
                <a:latin typeface="Trebuchet MS"/>
              </a:defRPr>
            </a:pPr>
            <a:r>
              <a:t>TIMESCALE DB &amp; POSTGRES</a:t>
            </a:r>
          </a:p>
          <a:p>
            <a:br/>
            <a:pPr>
              <a:defRPr sz="1100">
                <a:solidFill>
                  <a:srgbClr val="E2E8F0"/>
                </a:solidFill>
                <a:latin typeface="Calibri"/>
              </a:defRPr>
            </a:pPr>
            <a:r>
              <a:t>• Hypertables optimized for petabyte-scale time-series logs.</a:t>
            </a:r>
          </a:p>
          <a:p>
            <a:br/>
            <a:pPr>
              <a:defRPr sz="1100">
                <a:solidFill>
                  <a:srgbClr val="E2E8F0"/>
                </a:solidFill>
                <a:latin typeface="Calibri"/>
              </a:defRPr>
            </a:pPr>
            <a:r>
              <a:t>• Continuous aggregates for real-time health analytics.</a:t>
            </a:r>
          </a:p>
          <a:p>
            <a:br/>
            <a:pPr>
              <a:defRPr sz="1100">
                <a:solidFill>
                  <a:srgbClr val="E2E8F0"/>
                </a:solidFill>
                <a:latin typeface="Calibri"/>
              </a:defRPr>
            </a:pPr>
            <a:r>
              <a:t>• Strict multi-tenant isolation with composite foreign keys.</a:t>
            </a:r>
          </a:p>
          <a:p>
            <a:br/>
            <a:pPr>
              <a:defRPr sz="1100">
                <a:solidFill>
                  <a:srgbClr val="E2E8F0"/>
                </a:solidFill>
                <a:latin typeface="Calibri"/>
              </a:defRPr>
            </a:pPr>
            <a:r>
              <a:t>• Declarative lifecycle schema bootstrapping.</a:t>
            </a:r>
          </a:p>
        </p:txBody>
      </p:sp>
      <p:sp>
        <p:nvSpPr>
          <p:cNvPr id="13" name="Rounded Rectangle 12"/>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O(1) Valkey Ingest Buffer | Sub-5ms Hypertable Writes | Zero-Copy Streaming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ARCHITECTURE</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FlutterForecast #11 (Architecture Diagram)</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End-to-End System Architecture &amp; Streaming Pipeline</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How Logs Flow from Collectors to Root-Cause Pinpointing (&lt;120ms Latency)</a:t>
            </a:r>
          </a:p>
        </p:txBody>
      </p:sp>
      <p:sp>
        <p:nvSpPr>
          <p:cNvPr id="7" name="Rounded Rectangle 6"/>
          <p:cNvSpPr/>
          <p:nvPr/>
        </p:nvSpPr>
        <p:spPr>
          <a:xfrm>
            <a:off x="731520" y="2011680"/>
            <a:ext cx="1371600" cy="1645920"/>
          </a:xfrm>
          <a:prstGeom prst="roundRect">
            <a:avLst/>
          </a:prstGeom>
          <a:solidFill>
            <a:srgbClr val="161F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94560"/>
            <a:ext cx="1280160" cy="1280160"/>
          </a:xfrm>
          <a:prstGeom prst="rect">
            <a:avLst/>
          </a:prstGeom>
          <a:noFill/>
        </p:spPr>
        <p:txBody>
          <a:bodyPr wrap="square">
            <a:spAutoFit/>
          </a:bodyPr>
          <a:lstStyle/>
          <a:p>
            <a:pPr algn="ctr">
              <a:defRPr sz="1100" b="1">
                <a:solidFill>
                  <a:srgbClr val="10B981"/>
                </a:solidFill>
                <a:latin typeface="Trebuchet MS"/>
              </a:defRPr>
            </a:pPr>
            <a:r>
              <a:t>1. Collectors</a:t>
            </a:r>
          </a:p>
          <a:p>
            <a:br/>
            <a:pPr algn="ctr">
              <a:defRPr sz="950">
                <a:solidFill>
                  <a:srgbClr val="E2E8F0"/>
                </a:solidFill>
                <a:latin typeface="Calibri"/>
              </a:defRPr>
            </a:pPr>
            <a:r>
              <a:t>FluentBit, Vector, OTLP</a:t>
            </a:r>
          </a:p>
        </p:txBody>
      </p:sp>
      <p:sp>
        <p:nvSpPr>
          <p:cNvPr id="9" name="Rounded Rectangle 8"/>
          <p:cNvSpPr/>
          <p:nvPr/>
        </p:nvSpPr>
        <p:spPr>
          <a:xfrm>
            <a:off x="2267712" y="2011680"/>
            <a:ext cx="1371600" cy="164592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13432" y="2194560"/>
            <a:ext cx="1280160" cy="1280160"/>
          </a:xfrm>
          <a:prstGeom prst="rect">
            <a:avLst/>
          </a:prstGeom>
          <a:noFill/>
        </p:spPr>
        <p:txBody>
          <a:bodyPr wrap="square">
            <a:spAutoFit/>
          </a:bodyPr>
          <a:lstStyle/>
          <a:p>
            <a:pPr algn="ctr">
              <a:defRPr sz="1100" b="1">
                <a:solidFill>
                  <a:srgbClr val="06B6D4"/>
                </a:solidFill>
                <a:latin typeface="Trebuchet MS"/>
              </a:defRPr>
            </a:pPr>
            <a:r>
              <a:t>2. Fast API Ingest</a:t>
            </a:r>
          </a:p>
          <a:p>
            <a:br/>
            <a:pPr algn="ctr">
              <a:defRPr sz="950">
                <a:solidFill>
                  <a:srgbClr val="E2E8F0"/>
                </a:solidFill>
                <a:latin typeface="Calibri"/>
              </a:defRPr>
            </a:pPr>
            <a:r>
              <a:t>XADD to Valkey Buffer</a:t>
            </a:r>
          </a:p>
        </p:txBody>
      </p:sp>
      <p:sp>
        <p:nvSpPr>
          <p:cNvPr id="11" name="Rounded Rectangle 10"/>
          <p:cNvSpPr/>
          <p:nvPr/>
        </p:nvSpPr>
        <p:spPr>
          <a:xfrm>
            <a:off x="3803904" y="2011680"/>
            <a:ext cx="1371600" cy="1645920"/>
          </a:xfrm>
          <a:prstGeom prst="roundRect">
            <a:avLst/>
          </a:prstGeom>
          <a:solidFill>
            <a:srgbClr val="161F3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9624" y="2194560"/>
            <a:ext cx="1280160" cy="1280160"/>
          </a:xfrm>
          <a:prstGeom prst="rect">
            <a:avLst/>
          </a:prstGeom>
          <a:noFill/>
        </p:spPr>
        <p:txBody>
          <a:bodyPr wrap="square">
            <a:spAutoFit/>
          </a:bodyPr>
          <a:lstStyle/>
          <a:p>
            <a:pPr algn="ctr">
              <a:defRPr sz="1100" b="1">
                <a:solidFill>
                  <a:srgbClr val="3B82F6"/>
                </a:solidFill>
                <a:latin typeface="Trebuchet MS"/>
              </a:defRPr>
            </a:pPr>
            <a:r>
              <a:t>3. Drain3 Mining</a:t>
            </a:r>
          </a:p>
          <a:p>
            <a:br/>
            <a:pPr algn="ctr">
              <a:defRPr sz="950">
                <a:solidFill>
                  <a:srgbClr val="E2E8F0"/>
                </a:solidFill>
                <a:latin typeface="Calibri"/>
              </a:defRPr>
            </a:pPr>
            <a:r>
              <a:t>Cluster &amp; Mask [&lt;*&gt;]</a:t>
            </a:r>
          </a:p>
        </p:txBody>
      </p:sp>
      <p:sp>
        <p:nvSpPr>
          <p:cNvPr id="13" name="Rounded Rectangle 12"/>
          <p:cNvSpPr/>
          <p:nvPr/>
        </p:nvSpPr>
        <p:spPr>
          <a:xfrm>
            <a:off x="5340096" y="2011680"/>
            <a:ext cx="1371600" cy="1645920"/>
          </a:xfrm>
          <a:prstGeom prst="roundRect">
            <a:avLst/>
          </a:prstGeom>
          <a:solidFill>
            <a:srgbClr val="161F30"/>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85816" y="2194560"/>
            <a:ext cx="1280160" cy="1280160"/>
          </a:xfrm>
          <a:prstGeom prst="rect">
            <a:avLst/>
          </a:prstGeom>
          <a:noFill/>
        </p:spPr>
        <p:txBody>
          <a:bodyPr wrap="square">
            <a:spAutoFit/>
          </a:bodyPr>
          <a:lstStyle/>
          <a:p>
            <a:pPr algn="ctr">
              <a:defRPr sz="1100" b="1">
                <a:solidFill>
                  <a:srgbClr val="8B5CF6"/>
                </a:solidFill>
                <a:latin typeface="Trebuchet MS"/>
              </a:defRPr>
            </a:pPr>
            <a:r>
              <a:t>4. Feature Windows</a:t>
            </a:r>
          </a:p>
          <a:p>
            <a:br/>
            <a:pPr algn="ctr">
              <a:defRPr sz="950">
                <a:solidFill>
                  <a:srgbClr val="E2E8F0"/>
                </a:solidFill>
                <a:latin typeface="Calibri"/>
              </a:defRPr>
            </a:pPr>
            <a:r>
              <a:t>60s Window / 12 Features</a:t>
            </a:r>
          </a:p>
        </p:txBody>
      </p:sp>
      <p:sp>
        <p:nvSpPr>
          <p:cNvPr id="15" name="Rounded Rectangle 14"/>
          <p:cNvSpPr/>
          <p:nvPr/>
        </p:nvSpPr>
        <p:spPr>
          <a:xfrm>
            <a:off x="6876288" y="2011680"/>
            <a:ext cx="1371600" cy="1645920"/>
          </a:xfrm>
          <a:prstGeom prst="roundRect">
            <a:avLst/>
          </a:prstGeom>
          <a:solidFill>
            <a:srgbClr val="161F30"/>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22008" y="2194560"/>
            <a:ext cx="1280160" cy="1280160"/>
          </a:xfrm>
          <a:prstGeom prst="rect">
            <a:avLst/>
          </a:prstGeom>
          <a:noFill/>
        </p:spPr>
        <p:txBody>
          <a:bodyPr wrap="square">
            <a:spAutoFit/>
          </a:bodyPr>
          <a:lstStyle/>
          <a:p>
            <a:pPr algn="ctr">
              <a:defRPr sz="1100" b="1">
                <a:solidFill>
                  <a:srgbClr val="F97316"/>
                </a:solidFill>
                <a:latin typeface="Trebuchet MS"/>
              </a:defRPr>
            </a:pPr>
            <a:r>
              <a:t>5. Isolation Forest</a:t>
            </a:r>
          </a:p>
          <a:p>
            <a:br/>
            <a:pPr algn="ctr">
              <a:defRPr sz="950">
                <a:solidFill>
                  <a:srgbClr val="E2E8F0"/>
                </a:solidFill>
                <a:latin typeface="Calibri"/>
              </a:defRPr>
            </a:pPr>
            <a:r>
              <a:t>Outlier Score vs -0.075</a:t>
            </a:r>
          </a:p>
        </p:txBody>
      </p:sp>
      <p:sp>
        <p:nvSpPr>
          <p:cNvPr id="17" name="Rounded Rectangle 16"/>
          <p:cNvSpPr/>
          <p:nvPr/>
        </p:nvSpPr>
        <p:spPr>
          <a:xfrm>
            <a:off x="8412480" y="2011680"/>
            <a:ext cx="1371600" cy="1645920"/>
          </a:xfrm>
          <a:prstGeom prst="roundRect">
            <a:avLst/>
          </a:prstGeom>
          <a:solidFill>
            <a:srgbClr val="161F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194560"/>
            <a:ext cx="1280160" cy="1280160"/>
          </a:xfrm>
          <a:prstGeom prst="rect">
            <a:avLst/>
          </a:prstGeom>
          <a:noFill/>
        </p:spPr>
        <p:txBody>
          <a:bodyPr wrap="square">
            <a:spAutoFit/>
          </a:bodyPr>
          <a:lstStyle/>
          <a:p>
            <a:pPr algn="ctr">
              <a:defRPr sz="1100" b="1">
                <a:solidFill>
                  <a:srgbClr val="10B981"/>
                </a:solidFill>
                <a:latin typeface="Trebuchet MS"/>
              </a:defRPr>
            </a:pPr>
            <a:r>
              <a:t>6. Causal Graph</a:t>
            </a:r>
          </a:p>
          <a:p>
            <a:br/>
            <a:pPr algn="ctr">
              <a:defRPr sz="950">
                <a:solidFill>
                  <a:srgbClr val="E2E8F0"/>
                </a:solidFill>
                <a:latin typeface="Calibri"/>
              </a:defRPr>
            </a:pPr>
            <a:r>
              <a:t>NetworkX Blast Radius</a:t>
            </a:r>
          </a:p>
        </p:txBody>
      </p:sp>
      <p:sp>
        <p:nvSpPr>
          <p:cNvPr id="19" name="Rounded Rectangle 18"/>
          <p:cNvSpPr/>
          <p:nvPr/>
        </p:nvSpPr>
        <p:spPr>
          <a:xfrm>
            <a:off x="9948672" y="2011680"/>
            <a:ext cx="1371600" cy="164592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94392" y="2194560"/>
            <a:ext cx="1280160" cy="1280160"/>
          </a:xfrm>
          <a:prstGeom prst="rect">
            <a:avLst/>
          </a:prstGeom>
          <a:noFill/>
        </p:spPr>
        <p:txBody>
          <a:bodyPr wrap="square">
            <a:spAutoFit/>
          </a:bodyPr>
          <a:lstStyle/>
          <a:p>
            <a:pPr algn="ctr">
              <a:defRPr sz="1100" b="1">
                <a:solidFill>
                  <a:srgbClr val="06B6D4"/>
                </a:solidFill>
                <a:latin typeface="Trebuchet MS"/>
              </a:defRPr>
            </a:pPr>
            <a:r>
              <a:t>7. WebSocket Push</a:t>
            </a:r>
          </a:p>
          <a:p>
            <a:br/>
            <a:pPr algn="ctr">
              <a:defRPr sz="950">
                <a:solidFill>
                  <a:srgbClr val="E2E8F0"/>
                </a:solidFill>
                <a:latin typeface="Calibri"/>
              </a:defRPr>
            </a:pPr>
            <a:r>
              <a:t>React 18 Dashboard</a:t>
            </a:r>
          </a:p>
        </p:txBody>
      </p:sp>
      <p:sp>
        <p:nvSpPr>
          <p:cNvPr id="21" name="Rounded Rectangle 20"/>
          <p:cNvSpPr/>
          <p:nvPr/>
        </p:nvSpPr>
        <p:spPr>
          <a:xfrm>
            <a:off x="731520" y="3931920"/>
            <a:ext cx="10728655" cy="1874519"/>
          </a:xfrm>
          <a:prstGeom prst="roundRect">
            <a:avLst/>
          </a:prstGeom>
          <a:solidFill>
            <a:srgbClr val="0F172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023360"/>
            <a:ext cx="10149840" cy="1645920"/>
          </a:xfrm>
          <a:prstGeom prst="rect">
            <a:avLst/>
          </a:prstGeom>
          <a:noFill/>
        </p:spPr>
        <p:txBody>
          <a:bodyPr wrap="square">
            <a:spAutoFit/>
          </a:bodyPr>
          <a:lstStyle/>
          <a:p>
            <a:pPr>
              <a:defRPr sz="1100" b="1">
                <a:solidFill>
                  <a:srgbClr val="06B6D4"/>
                </a:solidFill>
                <a:latin typeface="Consolas"/>
              </a:defRPr>
            </a:pPr>
            <a:r>
              <a:t>CORE RUNTIME PIPELINE HIGHLIGHTS:</a:t>
            </a:r>
          </a:p>
          <a:p>
            <a:pPr>
              <a:defRPr sz="1000">
                <a:solidFill>
                  <a:srgbClr val="E2E8F0"/>
                </a:solidFill>
                <a:latin typeface="Calibri"/>
              </a:defRPr>
            </a:pPr>
            <a:r>
              <a:t>• Non-Blocking Ingestion: Endpoints (/ingest-log, /v1/logs) respond in &lt;2ms with 202 Accepted, queuing records in Valkey.</a:t>
            </a:r>
            <a:br/>
            <a:r>
              <a:t>• High-Density Compression: Drain3 maintains an online prefix tree, compressing repetitive strings by 95%+ in sub-milliseconds.</a:t>
            </a:r>
            <a:br/>
            <a:r>
              <a:t>• Sliding-Window Vectorization: Windows close dynamically (interval=10s, window=60s, stride=30s), computing entropy and burst rates.</a:t>
            </a:r>
            <a:br/>
            <a:r>
              <a:t>• Instant Incident Broadcast: When an anomaly triggers, NetworkX calculates graph reachability and WebSockets push the update in &lt;120ms.</a:t>
            </a:r>
          </a:p>
        </p:txBody>
      </p:sp>
      <p:sp>
        <p:nvSpPr>
          <p:cNvPr id="23" name="Rounded Rectangle 22"/>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&lt;120ms End-to-End Latency | 7 Pipelined Stages | Completely Asynchronous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ML CORE</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FlutterForecast #12-13 (3 Components)</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Algorithmic Core: Drain3 &amp; Isolation Forest</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Online Template Mining &amp; Multidimensional Feature Anomaly Scoring</a:t>
            </a:r>
          </a:p>
        </p:txBody>
      </p:sp>
      <p:sp>
        <p:nvSpPr>
          <p:cNvPr id="7" name="Rounded Rectangle 6"/>
          <p:cNvSpPr/>
          <p:nvPr/>
        </p:nvSpPr>
        <p:spPr>
          <a:xfrm>
            <a:off x="731520" y="1828800"/>
            <a:ext cx="3383280" cy="3931920"/>
          </a:xfrm>
          <a:prstGeom prst="roundRect">
            <a:avLst/>
          </a:prstGeom>
          <a:solidFill>
            <a:srgbClr val="161F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11680"/>
            <a:ext cx="548640" cy="5486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548640" cy="457200"/>
          </a:xfrm>
          <a:prstGeom prst="rect">
            <a:avLst/>
          </a:prstGeom>
          <a:noFill/>
        </p:spPr>
        <p:txBody>
          <a:bodyPr wrap="none">
            <a:spAutoFit/>
          </a:bodyPr>
          <a:lstStyle/>
          <a:p>
            <a:pPr algn="ctr">
              <a:defRPr sz="1400" b="1">
                <a:solidFill>
                  <a:srgbClr val="FFFFFF"/>
                </a:solidFill>
                <a:latin typeface="Consolas"/>
              </a:defRPr>
            </a:pPr>
            <a:r>
              <a:t>01</a:t>
            </a:r>
          </a:p>
        </p:txBody>
      </p:sp>
      <p:sp>
        <p:nvSpPr>
          <p:cNvPr id="10" name="TextBox 9"/>
          <p:cNvSpPr txBox="1"/>
          <p:nvPr/>
        </p:nvSpPr>
        <p:spPr>
          <a:xfrm>
            <a:off x="1005840" y="2743200"/>
            <a:ext cx="2834640" cy="2834640"/>
          </a:xfrm>
          <a:prstGeom prst="rect">
            <a:avLst/>
          </a:prstGeom>
          <a:noFill/>
        </p:spPr>
        <p:txBody>
          <a:bodyPr wrap="square">
            <a:spAutoFit/>
          </a:bodyPr>
          <a:lstStyle/>
          <a:p>
            <a:pPr>
              <a:defRPr sz="1600" b="1">
                <a:solidFill>
                  <a:srgbClr val="FFFFFF"/>
                </a:solidFill>
                <a:latin typeface="Trebuchet MS"/>
              </a:defRPr>
            </a:pPr>
            <a:r>
              <a:t>Drain3 Template Miner</a:t>
            </a:r>
          </a:p>
          <a:p>
            <a:pPr>
              <a:defRPr sz="1100" i="1">
                <a:solidFill>
                  <a:srgbClr val="10B981"/>
                </a:solidFill>
                <a:latin typeface="Calibri"/>
              </a:defRPr>
            </a:pPr>
            <a:r>
              <a:t>Online Prefix-Tree Parser</a:t>
            </a:r>
          </a:p>
          <a:p>
            <a:br/>
            <a:pPr>
              <a:defRPr sz="1000">
                <a:solidFill>
                  <a:srgbClr val="E2E8F0"/>
                </a:solidFill>
                <a:latin typeface="Calibri"/>
              </a:defRPr>
            </a:pPr>
            <a:r>
              <a:t>• Parses raw unstructured text into structured templates in &lt;0.5ms.</a:t>
            </a:r>
            <a:br/>
            <a:br/>
            <a:r>
              <a:t>• Dynamically identifies dynamic parameters (IPs, UUIDs, IDs) and replaces them with [&lt;*&gt;] wildcards.</a:t>
            </a:r>
            <a:br/>
            <a:br/>
            <a:r>
              <a:t>• Achieves 95%+ compression ratio while preserving full diagnostic context.</a:t>
            </a:r>
          </a:p>
        </p:txBody>
      </p:sp>
      <p:sp>
        <p:nvSpPr>
          <p:cNvPr id="11" name="Rounded Rectangle 10"/>
          <p:cNvSpPr/>
          <p:nvPr/>
        </p:nvSpPr>
        <p:spPr>
          <a:xfrm>
            <a:off x="4389120" y="1828800"/>
            <a:ext cx="3383280" cy="393192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63440" y="2011680"/>
            <a:ext cx="548640" cy="54864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057400"/>
            <a:ext cx="548640" cy="457200"/>
          </a:xfrm>
          <a:prstGeom prst="rect">
            <a:avLst/>
          </a:prstGeom>
          <a:noFill/>
        </p:spPr>
        <p:txBody>
          <a:bodyPr wrap="none">
            <a:spAutoFit/>
          </a:bodyPr>
          <a:lstStyle/>
          <a:p>
            <a:pPr algn="ctr">
              <a:defRPr sz="1400" b="1">
                <a:solidFill>
                  <a:srgbClr val="FFFFFF"/>
                </a:solidFill>
                <a:latin typeface="Consolas"/>
              </a:defRPr>
            </a:pPr>
            <a:r>
              <a:t>02</a:t>
            </a:r>
          </a:p>
        </p:txBody>
      </p:sp>
      <p:sp>
        <p:nvSpPr>
          <p:cNvPr id="14" name="TextBox 13"/>
          <p:cNvSpPr txBox="1"/>
          <p:nvPr/>
        </p:nvSpPr>
        <p:spPr>
          <a:xfrm>
            <a:off x="4663440" y="2743200"/>
            <a:ext cx="2834640" cy="2834640"/>
          </a:xfrm>
          <a:prstGeom prst="rect">
            <a:avLst/>
          </a:prstGeom>
          <a:noFill/>
        </p:spPr>
        <p:txBody>
          <a:bodyPr wrap="square">
            <a:spAutoFit/>
          </a:bodyPr>
          <a:lstStyle/>
          <a:p>
            <a:pPr>
              <a:defRPr sz="1600" b="1">
                <a:solidFill>
                  <a:srgbClr val="FFFFFF"/>
                </a:solidFill>
                <a:latin typeface="Trebuchet MS"/>
              </a:defRPr>
            </a:pPr>
            <a:r>
              <a:t>Sliding-Window Features</a:t>
            </a:r>
          </a:p>
          <a:p>
            <a:pPr>
              <a:defRPr sz="1100" i="1">
                <a:solidFill>
                  <a:srgbClr val="06B6D4"/>
                </a:solidFill>
                <a:latin typeface="Calibri"/>
              </a:defRPr>
            </a:pPr>
            <a:r>
              <a:t>12-Dimensional Vector</a:t>
            </a:r>
          </a:p>
          <a:p>
            <a:br/>
            <a:pPr>
              <a:defRPr sz="1000">
                <a:solidFill>
                  <a:srgbClr val="E2E8F0"/>
                </a:solidFill>
                <a:latin typeface="Calibri"/>
              </a:defRPr>
            </a:pPr>
            <a:r>
              <a:t>• 60s windows with 30s stride extract 12 statistical and entropy features:</a:t>
            </a:r>
            <a:br/>
            <a:br/>
            <a:r>
              <a:t>• Statistical: log_count, error_count, warning_count, error_ratio, logs_per_sec.</a:t>
            </a:r>
            <a:br/>
            <a:br/>
            <a:r>
              <a:t>• Entropy &amp; Dynamics: template_entropy, unique_templates, dominant_service_ratio, burst_indicator.</a:t>
            </a:r>
          </a:p>
        </p:txBody>
      </p:sp>
      <p:sp>
        <p:nvSpPr>
          <p:cNvPr id="15" name="Rounded Rectangle 14"/>
          <p:cNvSpPr/>
          <p:nvPr/>
        </p:nvSpPr>
        <p:spPr>
          <a:xfrm>
            <a:off x="8046720" y="1828800"/>
            <a:ext cx="3383280" cy="3931920"/>
          </a:xfrm>
          <a:prstGeom prst="roundRect">
            <a:avLst/>
          </a:prstGeom>
          <a:solidFill>
            <a:srgbClr val="161F30"/>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1040" y="2011680"/>
            <a:ext cx="548640" cy="54864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057400"/>
            <a:ext cx="548640" cy="457200"/>
          </a:xfrm>
          <a:prstGeom prst="rect">
            <a:avLst/>
          </a:prstGeom>
          <a:noFill/>
        </p:spPr>
        <p:txBody>
          <a:bodyPr wrap="none">
            <a:spAutoFit/>
          </a:bodyPr>
          <a:lstStyle/>
          <a:p>
            <a:pPr algn="ctr">
              <a:defRPr sz="1400" b="1">
                <a:solidFill>
                  <a:srgbClr val="FFFFFF"/>
                </a:solidFill>
                <a:latin typeface="Consolas"/>
              </a:defRPr>
            </a:pPr>
            <a:r>
              <a:t>03</a:t>
            </a:r>
          </a:p>
        </p:txBody>
      </p:sp>
      <p:sp>
        <p:nvSpPr>
          <p:cNvPr id="18" name="TextBox 17"/>
          <p:cNvSpPr txBox="1"/>
          <p:nvPr/>
        </p:nvSpPr>
        <p:spPr>
          <a:xfrm>
            <a:off x="8321040" y="2743200"/>
            <a:ext cx="2834640" cy="2834640"/>
          </a:xfrm>
          <a:prstGeom prst="rect">
            <a:avLst/>
          </a:prstGeom>
          <a:noFill/>
        </p:spPr>
        <p:txBody>
          <a:bodyPr wrap="square">
            <a:spAutoFit/>
          </a:bodyPr>
          <a:lstStyle/>
          <a:p>
            <a:pPr>
              <a:defRPr sz="1600" b="1">
                <a:solidFill>
                  <a:srgbClr val="FFFFFF"/>
                </a:solidFill>
                <a:latin typeface="Trebuchet MS"/>
              </a:defRPr>
            </a:pPr>
            <a:r>
              <a:t>Isolation Forest Model</a:t>
            </a:r>
          </a:p>
          <a:p>
            <a:pPr>
              <a:defRPr sz="1100" i="1">
                <a:solidFill>
                  <a:srgbClr val="8B5CF6"/>
                </a:solidFill>
                <a:latin typeface="Calibri"/>
              </a:defRPr>
            </a:pPr>
            <a:r>
              <a:t>Optimal Decision Boundary</a:t>
            </a:r>
          </a:p>
          <a:p>
            <a:br/>
            <a:pPr>
              <a:defRPr sz="1000">
                <a:solidFill>
                  <a:srgbClr val="E2E8F0"/>
                </a:solidFill>
                <a:latin typeface="Calibri"/>
              </a:defRPr>
            </a:pPr>
            <a:r>
              <a:t>• Ensemble of 100 isolation trees isolating outliers based on path length.</a:t>
            </a:r>
            <a:br/>
            <a:br/>
            <a:r>
              <a:t>• Optimal decision threshold at -0.075 achieves 81.25% precision and 86.67% recall.</a:t>
            </a:r>
            <a:br/>
            <a:br/>
            <a:r>
              <a:t>• 0.959 ROC-AUC score discriminating real incidents from normal traffic.</a:t>
            </a:r>
          </a:p>
        </p:txBody>
      </p:sp>
      <p:sp>
        <p:nvSpPr>
          <p:cNvPr id="19" name="Rounded Rectangle 18"/>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0.959 ROC-AUC | 0.839 F1-Score | 12 Vector Features | 100 Trees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GRAPH ENGINE</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FlutterForecast #12 &amp; PlayMap #8</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Dynamic Causal Topology &amp; Blast-Radius Ranking</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Tracing Cascading Failures to Their True Upstream Origin</a:t>
            </a:r>
          </a:p>
        </p:txBody>
      </p:sp>
      <p:sp>
        <p:nvSpPr>
          <p:cNvPr id="7" name="Rounded Rectangle 6"/>
          <p:cNvSpPr/>
          <p:nvPr/>
        </p:nvSpPr>
        <p:spPr>
          <a:xfrm>
            <a:off x="731520" y="1828800"/>
            <a:ext cx="3383280" cy="393192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2926080" cy="3474720"/>
          </a:xfrm>
          <a:prstGeom prst="rect">
            <a:avLst/>
          </a:prstGeom>
          <a:noFill/>
        </p:spPr>
        <p:txBody>
          <a:bodyPr wrap="square">
            <a:spAutoFit/>
          </a:bodyPr>
          <a:lstStyle/>
          <a:p>
            <a:pPr>
              <a:defRPr sz="1500" b="1">
                <a:solidFill>
                  <a:srgbClr val="06B6D4"/>
                </a:solidFill>
                <a:latin typeface="Trebuchet MS"/>
              </a:defRPr>
            </a:pPr>
            <a:r>
              <a:t>Dynamic Topology Autodiscovery</a:t>
            </a:r>
          </a:p>
          <a:p>
            <a:br/>
            <a:pPr>
              <a:defRPr sz="1100">
                <a:solidFill>
                  <a:srgbClr val="E2E8F0"/>
                </a:solidFill>
                <a:latin typeface="Calibri"/>
              </a:defRPr>
            </a:pPr>
            <a:r>
              <a:t>• Service dependencies are discovered continuously from live incoming traces and request timestamps.</a:t>
            </a:r>
            <a:br/>
            <a:br/>
            <a:r>
              <a:t>• NetworkX directed graph edges automatically reflect the live architecture without manual documentation.</a:t>
            </a:r>
            <a:br/>
            <a:br/>
            <a:r>
              <a:t>• Adapts instantly to autoscaling microservice clusters and canary deployments.</a:t>
            </a:r>
          </a:p>
        </p:txBody>
      </p:sp>
      <p:sp>
        <p:nvSpPr>
          <p:cNvPr id="9" name="Rounded Rectangle 8"/>
          <p:cNvSpPr/>
          <p:nvPr/>
        </p:nvSpPr>
        <p:spPr>
          <a:xfrm>
            <a:off x="4389120" y="1828800"/>
            <a:ext cx="3383280" cy="3931920"/>
          </a:xfrm>
          <a:prstGeom prst="roundRect">
            <a:avLst/>
          </a:prstGeom>
          <a:solidFill>
            <a:srgbClr val="161F30"/>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103120"/>
            <a:ext cx="2926080" cy="3474720"/>
          </a:xfrm>
          <a:prstGeom prst="rect">
            <a:avLst/>
          </a:prstGeom>
          <a:noFill/>
        </p:spPr>
        <p:txBody>
          <a:bodyPr wrap="square">
            <a:spAutoFit/>
          </a:bodyPr>
          <a:lstStyle/>
          <a:p>
            <a:pPr>
              <a:defRPr sz="1500" b="1">
                <a:solidFill>
                  <a:srgbClr val="F97316"/>
                </a:solidFill>
                <a:latin typeface="Trebuchet MS"/>
              </a:defRPr>
            </a:pPr>
            <a:r>
              <a:t>Root-Cause vs. Victim Separation</a:t>
            </a:r>
          </a:p>
          <a:p>
            <a:br/>
            <a:pPr>
              <a:defRPr sz="1100">
                <a:solidFill>
                  <a:srgbClr val="E2E8F0"/>
                </a:solidFill>
                <a:latin typeface="Calibri"/>
              </a:defRPr>
            </a:pPr>
            <a:r>
              <a:t>• Temporal Lead-Time Analysis detects which service degraded first before downstream errors surfaced.</a:t>
            </a:r>
            <a:br/>
            <a:br/>
            <a:r>
              <a:t>• Distinguishes true root cause (e.g. auth DB exhaustion) from victim services throwing 504 timeouts.</a:t>
            </a:r>
            <a:br/>
            <a:br/>
            <a:r>
              <a:t>• Suppresses over 85% of redundant symptom alerts, cutting alert storms.</a:t>
            </a:r>
          </a:p>
        </p:txBody>
      </p:sp>
      <p:sp>
        <p:nvSpPr>
          <p:cNvPr id="11" name="Rounded Rectangle 10"/>
          <p:cNvSpPr/>
          <p:nvPr/>
        </p:nvSpPr>
        <p:spPr>
          <a:xfrm>
            <a:off x="8046720" y="1828800"/>
            <a:ext cx="3383280" cy="3931920"/>
          </a:xfrm>
          <a:prstGeom prst="roundRect">
            <a:avLst/>
          </a:prstGeom>
          <a:solidFill>
            <a:srgbClr val="161F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103120"/>
            <a:ext cx="2926080" cy="3474720"/>
          </a:xfrm>
          <a:prstGeom prst="rect">
            <a:avLst/>
          </a:prstGeom>
          <a:noFill/>
        </p:spPr>
        <p:txBody>
          <a:bodyPr wrap="square">
            <a:spAutoFit/>
          </a:bodyPr>
          <a:lstStyle/>
          <a:p>
            <a:pPr>
              <a:defRPr sz="1500" b="1">
                <a:solidFill>
                  <a:srgbClr val="10B981"/>
                </a:solidFill>
                <a:latin typeface="Trebuchet MS"/>
              </a:defRPr>
            </a:pPr>
            <a:r>
              <a:t>Quantitative Blast-Radius Scoring</a:t>
            </a:r>
          </a:p>
          <a:p>
            <a:br/>
            <a:pPr>
              <a:defRPr sz="1100">
                <a:solidFill>
                  <a:srgbClr val="E2E8F0"/>
                </a:solidFill>
                <a:latin typeface="Calibri"/>
              </a:defRPr>
            </a:pPr>
            <a:r>
              <a:t>• Traverses reachability pathways from the anomalous service node to calculate impact percentage.</a:t>
            </a:r>
            <a:br/>
            <a:br/>
            <a:r>
              <a:t>• Scores severity based on affected dependencies (e.g. 66% blast radius over Order &amp; Payment services).</a:t>
            </a:r>
            <a:br/>
            <a:br/>
            <a:r>
              <a:t>• Pushes real-time graph highlight to the React dashboard with red causal indicators.</a:t>
            </a:r>
          </a:p>
        </p:txBody>
      </p:sp>
      <p:sp>
        <p:nvSpPr>
          <p:cNvPr id="13" name="Rounded Rectangle 12"/>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100% Causal Dependency Autodiscovery | 85%+ Redundant Alert Suppression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FIT MATRIX</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#9 (Problem -&gt; Solution Mapped Rows)</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Problem-Solution Fit Matrix</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Directly Addressing Operational Bottlenecks with Algorithmic Solutions</a:t>
            </a:r>
          </a:p>
        </p:txBody>
      </p:sp>
      <p:sp>
        <p:nvSpPr>
          <p:cNvPr id="7" name="Rounded Rectangle 6"/>
          <p:cNvSpPr/>
          <p:nvPr/>
        </p:nvSpPr>
        <p:spPr>
          <a:xfrm>
            <a:off x="731520" y="1828800"/>
            <a:ext cx="10728655" cy="1234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10332720" cy="365760"/>
          </a:xfrm>
          <a:prstGeom prst="rect">
            <a:avLst/>
          </a:prstGeom>
          <a:noFill/>
        </p:spPr>
        <p:txBody>
          <a:bodyPr wrap="none">
            <a:spAutoFit/>
          </a:bodyPr>
          <a:lstStyle/>
          <a:p>
            <a:r>
              <a:rPr sz="1200" b="1">
                <a:solidFill>
                  <a:srgbClr val="F97316"/>
                </a:solidFill>
                <a:latin typeface="Trebuchet MS"/>
              </a:rPr>
              <a:t>UNKNOWN BUGS &amp; ZERO-DAY INCIDENTS   ──────►   </a:t>
            </a:r>
            <a:r>
              <a:rPr sz="1200" b="1">
                <a:solidFill>
                  <a:srgbClr val="10B981"/>
                </a:solidFill>
                <a:latin typeface="Trebuchet MS"/>
              </a:rPr>
              <a:t>UNSUPERVISED ISOLATION FOREST</a:t>
            </a:r>
          </a:p>
        </p:txBody>
      </p:sp>
      <p:sp>
        <p:nvSpPr>
          <p:cNvPr id="9" name="TextBox 8"/>
          <p:cNvSpPr txBox="1"/>
          <p:nvPr/>
        </p:nvSpPr>
        <p:spPr>
          <a:xfrm>
            <a:off x="914400" y="2267712"/>
            <a:ext cx="10332720" cy="731520"/>
          </a:xfrm>
          <a:prstGeom prst="rect">
            <a:avLst/>
          </a:prstGeom>
          <a:noFill/>
        </p:spPr>
        <p:txBody>
          <a:bodyPr wrap="square">
            <a:spAutoFit/>
          </a:bodyPr>
          <a:lstStyle/>
          <a:p>
            <a:pPr>
              <a:defRPr sz="950">
                <a:solidFill>
                  <a:srgbClr val="E2E8F0"/>
                </a:solidFill>
                <a:latin typeface="Calibri"/>
              </a:defRPr>
            </a:pPr>
            <a:r>
              <a:t>Problem: Traditional monitoring relies on brittle regex rules. Unseen exceptions go undetected until users report outages.</a:t>
            </a:r>
            <a:br/>
            <a:r>
              <a:t>LogSentinel Fit: Unsupervised Isolation Forest evaluates structural features and entropy shifts, detecting novel zero-day anomalies without historical training labels.</a:t>
            </a:r>
          </a:p>
        </p:txBody>
      </p:sp>
      <p:sp>
        <p:nvSpPr>
          <p:cNvPr id="10" name="Rounded Rectangle 9"/>
          <p:cNvSpPr/>
          <p:nvPr/>
        </p:nvSpPr>
        <p:spPr>
          <a:xfrm>
            <a:off x="731520" y="3227832"/>
            <a:ext cx="10728655" cy="1234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319272"/>
            <a:ext cx="10332720" cy="365760"/>
          </a:xfrm>
          <a:prstGeom prst="rect">
            <a:avLst/>
          </a:prstGeom>
          <a:noFill/>
        </p:spPr>
        <p:txBody>
          <a:bodyPr wrap="none">
            <a:spAutoFit/>
          </a:bodyPr>
          <a:lstStyle/>
          <a:p>
            <a:r>
              <a:rPr sz="1200" b="1">
                <a:solidFill>
                  <a:srgbClr val="8B5CF6"/>
                </a:solidFill>
                <a:latin typeface="Trebuchet MS"/>
              </a:rPr>
              <a:t>CASCADING OUTAGES &amp; ALERT FATIGUE   ──────►   </a:t>
            </a:r>
            <a:r>
              <a:rPr sz="1200" b="1">
                <a:solidFill>
                  <a:srgbClr val="06B6D4"/>
                </a:solidFill>
                <a:latin typeface="Trebuchet MS"/>
              </a:rPr>
              <a:t>DYNAMIC CAUSAL TOPOLOGY RANKING</a:t>
            </a:r>
          </a:p>
        </p:txBody>
      </p:sp>
      <p:sp>
        <p:nvSpPr>
          <p:cNvPr id="12" name="TextBox 11"/>
          <p:cNvSpPr txBox="1"/>
          <p:nvPr/>
        </p:nvSpPr>
        <p:spPr>
          <a:xfrm>
            <a:off x="914400" y="3666744"/>
            <a:ext cx="10332720" cy="731520"/>
          </a:xfrm>
          <a:prstGeom prst="rect">
            <a:avLst/>
          </a:prstGeom>
          <a:noFill/>
        </p:spPr>
        <p:txBody>
          <a:bodyPr wrap="square">
            <a:spAutoFit/>
          </a:bodyPr>
          <a:lstStyle/>
          <a:p>
            <a:pPr>
              <a:defRPr sz="950">
                <a:solidFill>
                  <a:srgbClr val="E2E8F0"/>
                </a:solidFill>
                <a:latin typeface="Calibri"/>
              </a:defRPr>
            </a:pPr>
            <a:r>
              <a:t>Problem: A core service failure triggers dozens of downstream microservices to spam SREs with 504 Gateway Timeouts.</a:t>
            </a:r>
            <a:br/>
            <a:r>
              <a:t>LogSentinel Fit: NetworkX graph traversal isolates the upstream root node and ranks blast radius, suppressing symptom alarms and restoring triage focus.</a:t>
            </a:r>
          </a:p>
        </p:txBody>
      </p:sp>
      <p:sp>
        <p:nvSpPr>
          <p:cNvPr id="13" name="Rounded Rectangle 12"/>
          <p:cNvSpPr/>
          <p:nvPr/>
        </p:nvSpPr>
        <p:spPr>
          <a:xfrm>
            <a:off x="731520" y="4626864"/>
            <a:ext cx="10728655" cy="1234440"/>
          </a:xfrm>
          <a:prstGeom prst="roundRect">
            <a:avLst/>
          </a:prstGeom>
          <a:solidFill>
            <a:srgbClr val="161F3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18304"/>
            <a:ext cx="10332720" cy="365760"/>
          </a:xfrm>
          <a:prstGeom prst="rect">
            <a:avLst/>
          </a:prstGeom>
          <a:noFill/>
        </p:spPr>
        <p:txBody>
          <a:bodyPr wrap="none">
            <a:spAutoFit/>
          </a:bodyPr>
          <a:lstStyle/>
          <a:p>
            <a:r>
              <a:rPr sz="1200" b="1">
                <a:solidFill>
                  <a:srgbClr val="3B82F6"/>
                </a:solidFill>
                <a:latin typeface="Trebuchet MS"/>
              </a:rPr>
              <a:t>BALLOONING CLOUD LOG STORAGE BILLS   ──────►   </a:t>
            </a:r>
            <a:r>
              <a:rPr sz="1200" b="1">
                <a:solidFill>
                  <a:srgbClr val="F59E0B"/>
                </a:solidFill>
                <a:latin typeface="Trebuchet MS"/>
              </a:rPr>
              <a:t>DRAIN3 REAL-TIME TEMPLATE MINING</a:t>
            </a:r>
          </a:p>
        </p:txBody>
      </p:sp>
      <p:sp>
        <p:nvSpPr>
          <p:cNvPr id="15" name="TextBox 14"/>
          <p:cNvSpPr txBox="1"/>
          <p:nvPr/>
        </p:nvSpPr>
        <p:spPr>
          <a:xfrm>
            <a:off x="914400" y="5065776"/>
            <a:ext cx="10332720" cy="731520"/>
          </a:xfrm>
          <a:prstGeom prst="rect">
            <a:avLst/>
          </a:prstGeom>
          <a:noFill/>
        </p:spPr>
        <p:txBody>
          <a:bodyPr wrap="square">
            <a:spAutoFit/>
          </a:bodyPr>
          <a:lstStyle/>
          <a:p>
            <a:pPr>
              <a:defRPr sz="950">
                <a:solidFill>
                  <a:srgbClr val="E2E8F0"/>
                </a:solidFill>
                <a:latin typeface="Calibri"/>
              </a:defRPr>
            </a:pPr>
            <a:r>
              <a:t>Problem: Indexing and storing terabytes of repetitive raw log strings causes exorbitant cloud bills and sluggish dashboard searches.</a:t>
            </a:r>
            <a:br/>
            <a:r>
              <a:t>LogSentinel Fit: Drain3 clusters logs into templates and stores only dynamic variables, achieving 95%+ compression while preserving 100% forensic fidelity.</a:t>
            </a:r>
          </a:p>
        </p:txBody>
      </p:sp>
      <p:sp>
        <p:nvSpPr>
          <p:cNvPr id="16" name="Rounded Rectangle 15"/>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95%+ Storage Compression | Zero-Day Anomaly Capture | Instant Root-Cause Pinpointing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DEMO</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#8 (Demo Cycle) / FlutterForecast #14</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Live Demonstration &amp; Chaos Engineering Scenario</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Real-Time Detection of Cascading Microservice Failure (scripts/trigger_demo_incident.py)</a:t>
            </a:r>
          </a:p>
        </p:txBody>
      </p:sp>
      <p:sp>
        <p:nvSpPr>
          <p:cNvPr id="7" name="Rounded Rectangle 6"/>
          <p:cNvSpPr/>
          <p:nvPr/>
        </p:nvSpPr>
        <p:spPr>
          <a:xfrm>
            <a:off x="731520" y="1828800"/>
            <a:ext cx="2468880" cy="3931920"/>
          </a:xfrm>
          <a:prstGeom prst="roundRect">
            <a:avLst/>
          </a:prstGeom>
          <a:solidFill>
            <a:srgbClr val="161F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2103120" cy="3566160"/>
          </a:xfrm>
          <a:prstGeom prst="rect">
            <a:avLst/>
          </a:prstGeom>
          <a:noFill/>
        </p:spPr>
        <p:txBody>
          <a:bodyPr wrap="square">
            <a:spAutoFit/>
          </a:bodyPr>
          <a:lstStyle/>
          <a:p>
            <a:pPr>
              <a:defRPr sz="1200" b="1">
                <a:solidFill>
                  <a:srgbClr val="10B981"/>
                </a:solidFill>
                <a:latin typeface="Consolas"/>
              </a:defRPr>
            </a:pPr>
            <a:r>
              <a:t>STEP 1</a:t>
            </a:r>
          </a:p>
          <a:p>
            <a:br/>
            <a:pPr>
              <a:defRPr sz="1500" b="1">
                <a:solidFill>
                  <a:srgbClr val="FFFFFF"/>
                </a:solidFill>
                <a:latin typeface="Trebuchet MS"/>
              </a:defRPr>
            </a:pPr>
            <a:r>
              <a:t>Normal Baseline Traffic</a:t>
            </a:r>
          </a:p>
          <a:p>
            <a:br/>
            <a:pPr>
              <a:defRPr sz="1050">
                <a:solidFill>
                  <a:srgbClr val="E2E8F0"/>
                </a:solidFill>
                <a:latin typeface="Calibri"/>
              </a:defRPr>
            </a:pPr>
            <a:r>
              <a:t>500 logs/sec streaming across auth, order, and payment services. All graph nodes green; anomaly score well below -0.075.</a:t>
            </a:r>
          </a:p>
        </p:txBody>
      </p:sp>
      <p:sp>
        <p:nvSpPr>
          <p:cNvPr id="9" name="Rounded Rectangle 8"/>
          <p:cNvSpPr/>
          <p:nvPr/>
        </p:nvSpPr>
        <p:spPr>
          <a:xfrm>
            <a:off x="3483864" y="1828800"/>
            <a:ext cx="2468880" cy="3931920"/>
          </a:xfrm>
          <a:prstGeom prst="roundRect">
            <a:avLst/>
          </a:prstGeom>
          <a:solidFill>
            <a:srgbClr val="161F30"/>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66744" y="2011680"/>
            <a:ext cx="2103120" cy="3566160"/>
          </a:xfrm>
          <a:prstGeom prst="rect">
            <a:avLst/>
          </a:prstGeom>
          <a:noFill/>
        </p:spPr>
        <p:txBody>
          <a:bodyPr wrap="square">
            <a:spAutoFit/>
          </a:bodyPr>
          <a:lstStyle/>
          <a:p>
            <a:pPr>
              <a:defRPr sz="1200" b="1">
                <a:solidFill>
                  <a:srgbClr val="F97316"/>
                </a:solidFill>
                <a:latin typeface="Consolas"/>
              </a:defRPr>
            </a:pPr>
            <a:r>
              <a:t>STEP 2</a:t>
            </a:r>
          </a:p>
          <a:p>
            <a:br/>
            <a:pPr>
              <a:defRPr sz="1500" b="1">
                <a:solidFill>
                  <a:srgbClr val="FFFFFF"/>
                </a:solidFill>
                <a:latin typeface="Trebuchet MS"/>
              </a:defRPr>
            </a:pPr>
            <a:r>
              <a:t>Simulated Chaos Injection</a:t>
            </a:r>
          </a:p>
          <a:p>
            <a:br/>
            <a:pPr>
              <a:defRPr sz="1050">
                <a:solidFill>
                  <a:srgbClr val="E2E8F0"/>
                </a:solidFill>
                <a:latin typeface="Calibri"/>
              </a:defRPr>
            </a:pPr>
            <a:r>
              <a:t>Chaos script injects connection pool exhaustion and latency into auth-service; downstream services start logging 504 errors.</a:t>
            </a:r>
          </a:p>
        </p:txBody>
      </p:sp>
      <p:sp>
        <p:nvSpPr>
          <p:cNvPr id="11" name="Rounded Rectangle 10"/>
          <p:cNvSpPr/>
          <p:nvPr/>
        </p:nvSpPr>
        <p:spPr>
          <a:xfrm>
            <a:off x="6236208" y="1828800"/>
            <a:ext cx="2468880" cy="3931920"/>
          </a:xfrm>
          <a:prstGeom prst="roundRect">
            <a:avLst/>
          </a:prstGeom>
          <a:solidFill>
            <a:srgbClr val="161F30"/>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2011680"/>
            <a:ext cx="2103120" cy="3566160"/>
          </a:xfrm>
          <a:prstGeom prst="rect">
            <a:avLst/>
          </a:prstGeom>
          <a:noFill/>
        </p:spPr>
        <p:txBody>
          <a:bodyPr wrap="square">
            <a:spAutoFit/>
          </a:bodyPr>
          <a:lstStyle/>
          <a:p>
            <a:pPr>
              <a:defRPr sz="1200" b="1">
                <a:solidFill>
                  <a:srgbClr val="8B5CF6"/>
                </a:solidFill>
                <a:latin typeface="Consolas"/>
              </a:defRPr>
            </a:pPr>
            <a:r>
              <a:t>STEP 3</a:t>
            </a:r>
          </a:p>
          <a:p>
            <a:br/>
            <a:pPr>
              <a:defRPr sz="1500" b="1">
                <a:solidFill>
                  <a:srgbClr val="FFFFFF"/>
                </a:solidFill>
                <a:latin typeface="Trebuchet MS"/>
              </a:defRPr>
            </a:pPr>
            <a:r>
              <a:t>Algorithmic Detection</a:t>
            </a:r>
          </a:p>
          <a:p>
            <a:br/>
            <a:pPr>
              <a:defRPr sz="1050">
                <a:solidFill>
                  <a:srgbClr val="E2E8F0"/>
                </a:solidFill>
                <a:latin typeface="Calibri"/>
              </a:defRPr>
            </a:pPr>
            <a:r>
              <a:t>Drain3 flags new error templates; sliding-window error_ratio spikes past 0.15; Isolation Forest flags anomaly.</a:t>
            </a:r>
          </a:p>
        </p:txBody>
      </p:sp>
      <p:sp>
        <p:nvSpPr>
          <p:cNvPr id="13" name="Rounded Rectangle 12"/>
          <p:cNvSpPr/>
          <p:nvPr/>
        </p:nvSpPr>
        <p:spPr>
          <a:xfrm>
            <a:off x="8988552" y="1828800"/>
            <a:ext cx="2468880" cy="393192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1432" y="2011680"/>
            <a:ext cx="2103120" cy="3566160"/>
          </a:xfrm>
          <a:prstGeom prst="rect">
            <a:avLst/>
          </a:prstGeom>
          <a:noFill/>
        </p:spPr>
        <p:txBody>
          <a:bodyPr wrap="square">
            <a:spAutoFit/>
          </a:bodyPr>
          <a:lstStyle/>
          <a:p>
            <a:pPr>
              <a:defRPr sz="1200" b="1">
                <a:solidFill>
                  <a:srgbClr val="06B6D4"/>
                </a:solidFill>
                <a:latin typeface="Consolas"/>
              </a:defRPr>
            </a:pPr>
            <a:r>
              <a:t>STEP 4</a:t>
            </a:r>
          </a:p>
          <a:p>
            <a:br/>
            <a:pPr>
              <a:defRPr sz="1500" b="1">
                <a:solidFill>
                  <a:srgbClr val="FFFFFF"/>
                </a:solidFill>
                <a:latin typeface="Trebuchet MS"/>
              </a:defRPr>
            </a:pPr>
            <a:r>
              <a:t>Live UI Reaction</a:t>
            </a:r>
          </a:p>
          <a:p>
            <a:br/>
            <a:pPr>
              <a:defRPr sz="1050">
                <a:solidFill>
                  <a:srgbClr val="E2E8F0"/>
                </a:solidFill>
                <a:latin typeface="Calibri"/>
              </a:defRPr>
            </a:pPr>
            <a:r>
              <a:t>WebSocket pushes incident alert: auth-service node flashes red, ranked #1 root cause with 66% blast radius across the fleet.</a:t>
            </a:r>
          </a:p>
        </p:txBody>
      </p:sp>
      <p:sp>
        <p:nvSpPr>
          <p:cNvPr id="15" name="Rounded Rectangle 14"/>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&lt;120ms Broadcast Delay | 100% Chaos Repeatability | Interactive Live UI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VALUE</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#10 (5x 20% Value Distribution)</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Added Value &amp; Strategic ROI Breakdown</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Project Focus: Autonomous, Zero-Configuration Microservice Observability</a:t>
            </a:r>
          </a:p>
        </p:txBody>
      </p:sp>
      <p:sp>
        <p:nvSpPr>
          <p:cNvPr id="7" name="Rounded Rectangle 6"/>
          <p:cNvSpPr/>
          <p:nvPr/>
        </p:nvSpPr>
        <p:spPr>
          <a:xfrm>
            <a:off x="731520" y="1828800"/>
            <a:ext cx="1965960" cy="3931920"/>
          </a:xfrm>
          <a:prstGeom prst="roundRect">
            <a:avLst/>
          </a:prstGeom>
          <a:solidFill>
            <a:srgbClr val="161F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03120"/>
            <a:ext cx="1691640" cy="3474720"/>
          </a:xfrm>
          <a:prstGeom prst="rect">
            <a:avLst/>
          </a:prstGeom>
          <a:noFill/>
        </p:spPr>
        <p:txBody>
          <a:bodyPr wrap="square">
            <a:spAutoFit/>
          </a:bodyPr>
          <a:lstStyle/>
          <a:p>
            <a:pPr algn="ctr">
              <a:defRPr sz="3600" b="1">
                <a:solidFill>
                  <a:srgbClr val="10B981"/>
                </a:solidFill>
                <a:latin typeface="Trebuchet MS"/>
              </a:defRPr>
            </a:pPr>
            <a:r>
              <a:t>20%</a:t>
            </a:r>
          </a:p>
          <a:p>
            <a:pPr algn="ctr">
              <a:defRPr sz="1300" b="1">
                <a:solidFill>
                  <a:srgbClr val="FFFFFF"/>
                </a:solidFill>
                <a:latin typeface="Trebuchet MS"/>
              </a:defRPr>
            </a:pPr>
            <a:r>
              <a:t>MTTR Reduction</a:t>
            </a:r>
          </a:p>
          <a:p>
            <a:br/>
            <a:pPr algn="ctr">
              <a:defRPr sz="1000">
                <a:solidFill>
                  <a:srgbClr val="E2E8F0"/>
                </a:solidFill>
                <a:latin typeface="Calibri"/>
              </a:defRPr>
            </a:pPr>
            <a:r>
              <a:t>Cuts diagnosis time from 45+ minutes to under 30 seconds.</a:t>
            </a:r>
          </a:p>
        </p:txBody>
      </p:sp>
      <p:sp>
        <p:nvSpPr>
          <p:cNvPr id="9" name="Rounded Rectangle 8"/>
          <p:cNvSpPr/>
          <p:nvPr/>
        </p:nvSpPr>
        <p:spPr>
          <a:xfrm>
            <a:off x="2916936" y="1828800"/>
            <a:ext cx="1965960" cy="393192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54096" y="2103120"/>
            <a:ext cx="1691640" cy="3474720"/>
          </a:xfrm>
          <a:prstGeom prst="rect">
            <a:avLst/>
          </a:prstGeom>
          <a:noFill/>
        </p:spPr>
        <p:txBody>
          <a:bodyPr wrap="square">
            <a:spAutoFit/>
          </a:bodyPr>
          <a:lstStyle/>
          <a:p>
            <a:pPr algn="ctr">
              <a:defRPr sz="3600" b="1">
                <a:solidFill>
                  <a:srgbClr val="06B6D4"/>
                </a:solidFill>
                <a:latin typeface="Trebuchet MS"/>
              </a:defRPr>
            </a:pPr>
            <a:r>
              <a:t>20%</a:t>
            </a:r>
          </a:p>
          <a:p>
            <a:pPr algn="ctr">
              <a:defRPr sz="1300" b="1">
                <a:solidFill>
                  <a:srgbClr val="FFFFFF"/>
                </a:solidFill>
                <a:latin typeface="Trebuchet MS"/>
              </a:defRPr>
            </a:pPr>
            <a:r>
              <a:t>Alert Noise Filter</a:t>
            </a:r>
          </a:p>
          <a:p>
            <a:br/>
            <a:pPr algn="ctr">
              <a:defRPr sz="1000">
                <a:solidFill>
                  <a:srgbClr val="E2E8F0"/>
                </a:solidFill>
                <a:latin typeface="Calibri"/>
              </a:defRPr>
            </a:pPr>
            <a:r>
              <a:t>Suppresses over 85% of redundant cascading symptom alerts.</a:t>
            </a:r>
          </a:p>
        </p:txBody>
      </p:sp>
      <p:sp>
        <p:nvSpPr>
          <p:cNvPr id="11" name="Rounded Rectangle 10"/>
          <p:cNvSpPr/>
          <p:nvPr/>
        </p:nvSpPr>
        <p:spPr>
          <a:xfrm>
            <a:off x="5102352" y="1828800"/>
            <a:ext cx="1965960" cy="3931920"/>
          </a:xfrm>
          <a:prstGeom prst="roundRect">
            <a:avLst/>
          </a:prstGeom>
          <a:solidFill>
            <a:srgbClr val="161F30"/>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39512" y="2103120"/>
            <a:ext cx="1691640" cy="3474720"/>
          </a:xfrm>
          <a:prstGeom prst="rect">
            <a:avLst/>
          </a:prstGeom>
          <a:noFill/>
        </p:spPr>
        <p:txBody>
          <a:bodyPr wrap="square">
            <a:spAutoFit/>
          </a:bodyPr>
          <a:lstStyle/>
          <a:p>
            <a:pPr algn="ctr">
              <a:defRPr sz="3600" b="1">
                <a:solidFill>
                  <a:srgbClr val="3B82F6"/>
                </a:solidFill>
                <a:latin typeface="Trebuchet MS"/>
              </a:defRPr>
            </a:pPr>
            <a:r>
              <a:t>20%</a:t>
            </a:r>
          </a:p>
          <a:p>
            <a:pPr algn="ctr">
              <a:defRPr sz="1300" b="1">
                <a:solidFill>
                  <a:srgbClr val="FFFFFF"/>
                </a:solidFill>
                <a:latin typeface="Trebuchet MS"/>
              </a:defRPr>
            </a:pPr>
            <a:r>
              <a:t>Zero-Rule ML</a:t>
            </a:r>
          </a:p>
          <a:p>
            <a:br/>
            <a:pPr algn="ctr">
              <a:defRPr sz="1000">
                <a:solidFill>
                  <a:srgbClr val="E2E8F0"/>
                </a:solidFill>
                <a:latin typeface="Calibri"/>
              </a:defRPr>
            </a:pPr>
            <a:r>
              <a:t>Unsupervised learning eliminates brittle regex and manual rule upkeep.</a:t>
            </a:r>
          </a:p>
        </p:txBody>
      </p:sp>
      <p:sp>
        <p:nvSpPr>
          <p:cNvPr id="13" name="Rounded Rectangle 12"/>
          <p:cNvSpPr/>
          <p:nvPr/>
        </p:nvSpPr>
        <p:spPr>
          <a:xfrm>
            <a:off x="7287768" y="1828800"/>
            <a:ext cx="1965960" cy="3931920"/>
          </a:xfrm>
          <a:prstGeom prst="roundRect">
            <a:avLst/>
          </a:prstGeom>
          <a:solidFill>
            <a:srgbClr val="161F30"/>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4928" y="2103120"/>
            <a:ext cx="1691640" cy="3474720"/>
          </a:xfrm>
          <a:prstGeom prst="rect">
            <a:avLst/>
          </a:prstGeom>
          <a:noFill/>
        </p:spPr>
        <p:txBody>
          <a:bodyPr wrap="square">
            <a:spAutoFit/>
          </a:bodyPr>
          <a:lstStyle/>
          <a:p>
            <a:pPr algn="ctr">
              <a:defRPr sz="3600" b="1">
                <a:solidFill>
                  <a:srgbClr val="8B5CF6"/>
                </a:solidFill>
                <a:latin typeface="Trebuchet MS"/>
              </a:defRPr>
            </a:pPr>
            <a:r>
              <a:t>20%</a:t>
            </a:r>
          </a:p>
          <a:p>
            <a:pPr algn="ctr">
              <a:defRPr sz="1300" b="1">
                <a:solidFill>
                  <a:srgbClr val="FFFFFF"/>
                </a:solidFill>
                <a:latin typeface="Trebuchet MS"/>
              </a:defRPr>
            </a:pPr>
            <a:r>
              <a:t>Cloud Scalability</a:t>
            </a:r>
          </a:p>
          <a:p>
            <a:br/>
            <a:pPr algn="ctr">
              <a:defRPr sz="1000">
                <a:solidFill>
                  <a:srgbClr val="E2E8F0"/>
                </a:solidFill>
                <a:latin typeface="Calibri"/>
              </a:defRPr>
            </a:pPr>
            <a:r>
              <a:t>10,000+ logs/sec per node with ultra-low memory (&lt;52MB RSS).</a:t>
            </a:r>
          </a:p>
        </p:txBody>
      </p:sp>
      <p:sp>
        <p:nvSpPr>
          <p:cNvPr id="15" name="Rounded Rectangle 14"/>
          <p:cNvSpPr/>
          <p:nvPr/>
        </p:nvSpPr>
        <p:spPr>
          <a:xfrm>
            <a:off x="9473184" y="1828800"/>
            <a:ext cx="1965960" cy="3931920"/>
          </a:xfrm>
          <a:prstGeom prst="roundRect">
            <a:avLst/>
          </a:prstGeom>
          <a:solidFill>
            <a:srgbClr val="161F30"/>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10344" y="2103120"/>
            <a:ext cx="1691640" cy="3474720"/>
          </a:xfrm>
          <a:prstGeom prst="rect">
            <a:avLst/>
          </a:prstGeom>
          <a:noFill/>
        </p:spPr>
        <p:txBody>
          <a:bodyPr wrap="square">
            <a:spAutoFit/>
          </a:bodyPr>
          <a:lstStyle/>
          <a:p>
            <a:pPr algn="ctr">
              <a:defRPr sz="3600" b="1">
                <a:solidFill>
                  <a:srgbClr val="F97316"/>
                </a:solidFill>
                <a:latin typeface="Trebuchet MS"/>
              </a:defRPr>
            </a:pPr>
            <a:r>
              <a:t>20%</a:t>
            </a:r>
          </a:p>
          <a:p>
            <a:pPr algn="ctr">
              <a:defRPr sz="1300" b="1">
                <a:solidFill>
                  <a:srgbClr val="FFFFFF"/>
                </a:solidFill>
                <a:latin typeface="Trebuchet MS"/>
              </a:defRPr>
            </a:pPr>
            <a:r>
              <a:t>Dynamic Visibility</a:t>
            </a:r>
          </a:p>
          <a:p>
            <a:br/>
            <a:pPr algn="ctr">
              <a:defRPr sz="1000">
                <a:solidFill>
                  <a:srgbClr val="E2E8F0"/>
                </a:solidFill>
                <a:latin typeface="Calibri"/>
              </a:defRPr>
            </a:pPr>
            <a:r>
              <a:t>Live service dependency graph discovered automatically from logs.</a:t>
            </a:r>
          </a:p>
        </p:txBody>
      </p:sp>
      <p:sp>
        <p:nvSpPr>
          <p:cNvPr id="17" name="Rounded Rectangle 16"/>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5 Strategic Value Pillars (20% Each) | 85% Noise Reduction | 90% MTTR Reduction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PRICING</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#11 (3 Tier Cards) / FlutterForecast #5</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Business Model: Tiered Platform Pricing</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Open-Source Core with Scalable Cloud and Enterprise Tiers</a:t>
            </a:r>
          </a:p>
        </p:txBody>
      </p:sp>
      <p:sp>
        <p:nvSpPr>
          <p:cNvPr id="7" name="Rounded Rectangle 6"/>
          <p:cNvSpPr/>
          <p:nvPr/>
        </p:nvSpPr>
        <p:spPr>
          <a:xfrm>
            <a:off x="731520" y="1828800"/>
            <a:ext cx="3383280" cy="3931920"/>
          </a:xfrm>
          <a:prstGeom prst="roundRect">
            <a:avLst/>
          </a:prstGeom>
          <a:solidFill>
            <a:srgbClr val="161F30"/>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11680"/>
            <a:ext cx="2926080" cy="3566160"/>
          </a:xfrm>
          <a:prstGeom prst="rect">
            <a:avLst/>
          </a:prstGeom>
          <a:noFill/>
        </p:spPr>
        <p:txBody>
          <a:bodyPr wrap="square">
            <a:spAutoFit/>
          </a:bodyPr>
          <a:lstStyle/>
          <a:p>
            <a:pPr>
              <a:defRPr sz="1300" b="1">
                <a:solidFill>
                  <a:srgbClr val="94A3B8"/>
                </a:solidFill>
                <a:latin typeface="Trebuchet MS"/>
              </a:defRPr>
            </a:pPr>
            <a:r>
              <a:t>COMMUNITY</a:t>
            </a:r>
          </a:p>
          <a:p>
            <a:pPr>
              <a:defRPr sz="2400" b="1">
                <a:solidFill>
                  <a:srgbClr val="FFFFFF"/>
                </a:solidFill>
                <a:latin typeface="Trebuchet MS"/>
              </a:defRPr>
            </a:pPr>
            <a:r>
              <a:t>Free ($0)</a:t>
            </a:r>
          </a:p>
          <a:p>
            <a:pPr>
              <a:defRPr sz="1000" i="1">
                <a:solidFill>
                  <a:srgbClr val="94A3B8"/>
                </a:solidFill>
                <a:latin typeface="Calibri"/>
              </a:defRPr>
            </a:pPr>
            <a:r>
              <a:t>Apache 2.0 Open Source</a:t>
            </a:r>
          </a:p>
          <a:p>
            <a:pPr>
              <a:defRPr sz="1000">
                <a:solidFill>
                  <a:srgbClr val="E2E8F0"/>
                </a:solidFill>
                <a:latin typeface="Calibri"/>
              </a:defRPr>
            </a:pPr>
            <a:r>
              <a:t>• Turnkey Docker Compose fleet.</a:t>
            </a:r>
          </a:p>
          <a:p>
            <a:pPr>
              <a:defRPr sz="1000">
                <a:solidFill>
                  <a:srgbClr val="E2E8F0"/>
                </a:solidFill>
                <a:latin typeface="Calibri"/>
              </a:defRPr>
            </a:pPr>
            <a:r>
              <a:t>• Drain3 online template miner.</a:t>
            </a:r>
          </a:p>
          <a:p>
            <a:pPr>
              <a:defRPr sz="1000">
                <a:solidFill>
                  <a:srgbClr val="E2E8F0"/>
                </a:solidFill>
                <a:latin typeface="Calibri"/>
              </a:defRPr>
            </a:pPr>
            <a:r>
              <a:t>• Sliding-window Isolation Forest.</a:t>
            </a:r>
          </a:p>
          <a:p>
            <a:pPr>
              <a:defRPr sz="1000">
                <a:solidFill>
                  <a:srgbClr val="E2E8F0"/>
                </a:solidFill>
                <a:latin typeface="Calibri"/>
              </a:defRPr>
            </a:pPr>
            <a:r>
              <a:t>• Single-tenant deployment.</a:t>
            </a:r>
          </a:p>
          <a:p>
            <a:pPr>
              <a:defRPr sz="1000">
                <a:solidFill>
                  <a:srgbClr val="E2E8F0"/>
                </a:solidFill>
                <a:latin typeface="Calibri"/>
              </a:defRPr>
            </a:pPr>
            <a:r>
              <a:t>• Up to 1,000 logs/sec ingestion.</a:t>
            </a:r>
          </a:p>
          <a:p>
            <a:pPr>
              <a:defRPr sz="1000">
                <a:solidFill>
                  <a:srgbClr val="E2E8F0"/>
                </a:solidFill>
                <a:latin typeface="Calibri"/>
              </a:defRPr>
            </a:pPr>
            <a:r>
              <a:t>• Community GitHub &amp; Discord support.</a:t>
            </a:r>
          </a:p>
        </p:txBody>
      </p:sp>
      <p:sp>
        <p:nvSpPr>
          <p:cNvPr id="9" name="Rounded Rectangle 8"/>
          <p:cNvSpPr/>
          <p:nvPr/>
        </p:nvSpPr>
        <p:spPr>
          <a:xfrm>
            <a:off x="4389120" y="1828800"/>
            <a:ext cx="3383280" cy="3931920"/>
          </a:xfrm>
          <a:prstGeom prst="roundRect">
            <a:avLst/>
          </a:prstGeom>
          <a:solidFill>
            <a:srgbClr val="161F30"/>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011680"/>
            <a:ext cx="2926080" cy="3566160"/>
          </a:xfrm>
          <a:prstGeom prst="rect">
            <a:avLst/>
          </a:prstGeom>
          <a:noFill/>
        </p:spPr>
        <p:txBody>
          <a:bodyPr wrap="square">
            <a:spAutoFit/>
          </a:bodyPr>
          <a:lstStyle/>
          <a:p>
            <a:pPr>
              <a:defRPr sz="1300" b="1">
                <a:solidFill>
                  <a:srgbClr val="10B981"/>
                </a:solidFill>
                <a:latin typeface="Trebuchet MS"/>
              </a:defRPr>
            </a:pPr>
            <a:r>
              <a:t>LOGSENTINEL PRO</a:t>
            </a:r>
          </a:p>
          <a:p>
            <a:pPr>
              <a:defRPr sz="2400" b="1">
                <a:solidFill>
                  <a:srgbClr val="FFFFFF"/>
                </a:solidFill>
                <a:latin typeface="Trebuchet MS"/>
              </a:defRPr>
            </a:pPr>
            <a:r>
              <a:t>$49 / node / mo</a:t>
            </a:r>
          </a:p>
          <a:p>
            <a:pPr>
              <a:defRPr sz="1000" i="1">
                <a:solidFill>
                  <a:srgbClr val="94A3B8"/>
                </a:solidFill>
                <a:latin typeface="Calibri"/>
              </a:defRPr>
            </a:pPr>
            <a:r>
              <a:t>Scaleups &amp; SRE Teams</a:t>
            </a:r>
          </a:p>
          <a:p>
            <a:pPr>
              <a:defRPr sz="1000">
                <a:solidFill>
                  <a:srgbClr val="E2E8F0"/>
                </a:solidFill>
                <a:latin typeface="Calibri"/>
              </a:defRPr>
            </a:pPr>
            <a:r>
              <a:t>• Everything in Community, plus:</a:t>
            </a:r>
          </a:p>
          <a:p>
            <a:pPr>
              <a:defRPr sz="1000">
                <a:solidFill>
                  <a:srgbClr val="E2E8F0"/>
                </a:solidFill>
                <a:latin typeface="Calibri"/>
              </a:defRPr>
            </a:pPr>
            <a:r>
              <a:t>• Valkey stream cluster (25k logs/sec/node).</a:t>
            </a:r>
          </a:p>
          <a:p>
            <a:pPr>
              <a:defRPr sz="1000">
                <a:solidFill>
                  <a:srgbClr val="E2E8F0"/>
                </a:solidFill>
                <a:latin typeface="Calibri"/>
              </a:defRPr>
            </a:pPr>
            <a:r>
              <a:t>• Dynamic Causal Graph &amp; Blast Radius.</a:t>
            </a:r>
          </a:p>
          <a:p>
            <a:pPr>
              <a:defRPr sz="1000">
                <a:solidFill>
                  <a:srgbClr val="E2E8F0"/>
                </a:solidFill>
                <a:latin typeface="Calibri"/>
              </a:defRPr>
            </a:pPr>
            <a:r>
              <a:t>• Multi-tenant data isolation.</a:t>
            </a:r>
          </a:p>
          <a:p>
            <a:pPr>
              <a:defRPr sz="1000">
                <a:solidFill>
                  <a:srgbClr val="E2E8F0"/>
                </a:solidFill>
                <a:latin typeface="Calibri"/>
              </a:defRPr>
            </a:pPr>
            <a:r>
              <a:t>• Automated model retraining schedule.</a:t>
            </a:r>
          </a:p>
          <a:p>
            <a:pPr>
              <a:defRPr sz="1000">
                <a:solidFill>
                  <a:srgbClr val="E2E8F0"/>
                </a:solidFill>
                <a:latin typeface="Calibri"/>
              </a:defRPr>
            </a:pPr>
            <a:r>
              <a:t>• Slack &amp; PagerDuty webhook alerts.</a:t>
            </a:r>
          </a:p>
        </p:txBody>
      </p:sp>
      <p:sp>
        <p:nvSpPr>
          <p:cNvPr id="11" name="Rounded Rectangle 10"/>
          <p:cNvSpPr/>
          <p:nvPr/>
        </p:nvSpPr>
        <p:spPr>
          <a:xfrm>
            <a:off x="8046720" y="1828800"/>
            <a:ext cx="3383280" cy="3931920"/>
          </a:xfrm>
          <a:prstGeom prst="roundRect">
            <a:avLst/>
          </a:prstGeom>
          <a:solidFill>
            <a:srgbClr val="161F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011680"/>
            <a:ext cx="2926080" cy="3566160"/>
          </a:xfrm>
          <a:prstGeom prst="rect">
            <a:avLst/>
          </a:prstGeom>
          <a:noFill/>
        </p:spPr>
        <p:txBody>
          <a:bodyPr wrap="square">
            <a:spAutoFit/>
          </a:bodyPr>
          <a:lstStyle/>
          <a:p>
            <a:pPr>
              <a:defRPr sz="1300" b="1">
                <a:solidFill>
                  <a:srgbClr val="8B5CF6"/>
                </a:solidFill>
                <a:latin typeface="Trebuchet MS"/>
              </a:defRPr>
            </a:pPr>
            <a:r>
              <a:t>ENTERPRISE SENTINEL</a:t>
            </a:r>
          </a:p>
          <a:p>
            <a:pPr>
              <a:defRPr sz="2400" b="1">
                <a:solidFill>
                  <a:srgbClr val="FFFFFF"/>
                </a:solidFill>
                <a:latin typeface="Trebuchet MS"/>
              </a:defRPr>
            </a:pPr>
            <a:r>
              <a:t>$1,499+ / mo</a:t>
            </a:r>
          </a:p>
          <a:p>
            <a:pPr>
              <a:defRPr sz="1000" i="1">
                <a:solidFill>
                  <a:srgbClr val="94A3B8"/>
                </a:solidFill>
                <a:latin typeface="Calibri"/>
              </a:defRPr>
            </a:pPr>
            <a:r>
              <a:t>Enterprise Cloud &amp; FinTech</a:t>
            </a:r>
          </a:p>
          <a:p>
            <a:pPr>
              <a:defRPr sz="1000">
                <a:solidFill>
                  <a:srgbClr val="E2E8F0"/>
                </a:solidFill>
                <a:latin typeface="Calibri"/>
              </a:defRPr>
            </a:pPr>
            <a:r>
              <a:t>• Everything in Pro, plus:</a:t>
            </a:r>
          </a:p>
          <a:p>
            <a:pPr>
              <a:defRPr sz="1000">
                <a:solidFill>
                  <a:srgbClr val="E2E8F0"/>
                </a:solidFill>
                <a:latin typeface="Calibri"/>
              </a:defRPr>
            </a:pPr>
            <a:r>
              <a:t>• eBPF kernel-level tracing collector.</a:t>
            </a:r>
          </a:p>
          <a:p>
            <a:pPr>
              <a:defRPr sz="1000">
                <a:solidFill>
                  <a:srgbClr val="E2E8F0"/>
                </a:solidFill>
                <a:latin typeface="Calibri"/>
              </a:defRPr>
            </a:pPr>
            <a:r>
              <a:t>• Enterprise SSO (Microsoft &amp; Google OAuth).</a:t>
            </a:r>
          </a:p>
          <a:p>
            <a:pPr>
              <a:defRPr sz="1000">
                <a:solidFill>
                  <a:srgbClr val="E2E8F0"/>
                </a:solidFill>
                <a:latin typeface="Calibri"/>
              </a:defRPr>
            </a:pPr>
            <a:r>
              <a:t>• Air-gapped VPC / on-prem support.</a:t>
            </a:r>
          </a:p>
          <a:p>
            <a:pPr>
              <a:defRPr sz="1000">
                <a:solidFill>
                  <a:srgbClr val="E2E8F0"/>
                </a:solidFill>
                <a:latin typeface="Calibri"/>
              </a:defRPr>
            </a:pPr>
            <a:r>
              <a:t>• Valkey High-Availability cluster.</a:t>
            </a:r>
          </a:p>
          <a:p>
            <a:pPr>
              <a:defRPr sz="1000">
                <a:solidFill>
                  <a:srgbClr val="E2E8F0"/>
                </a:solidFill>
                <a:latin typeface="Calibri"/>
              </a:defRPr>
            </a:pPr>
            <a:r>
              <a:t>• 24/7 dedicated SRE support &amp; 99.99% SLA.</a:t>
            </a:r>
          </a:p>
        </p:txBody>
      </p:sp>
      <p:sp>
        <p:nvSpPr>
          <p:cNvPr id="13" name="Rounded Rectangle 12"/>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Free Open-Source Core | $49/node Pro Tier | $1,499+ Enterprise Contract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ADD-ONS</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PlayMap #12 (In-Website Shop &amp; Boosters)</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Business Model: Add-ons &amp; Professional Services</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Modular Cloud Boosters &amp; High-Value Enterprise Advisory Engagements</a:t>
            </a:r>
          </a:p>
        </p:txBody>
      </p:sp>
      <p:sp>
        <p:nvSpPr>
          <p:cNvPr id="7" name="Rounded Rectangle 6"/>
          <p:cNvSpPr/>
          <p:nvPr/>
        </p:nvSpPr>
        <p:spPr>
          <a:xfrm>
            <a:off x="731520" y="1828800"/>
            <a:ext cx="5212080" cy="393192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11680"/>
            <a:ext cx="4663440" cy="3566160"/>
          </a:xfrm>
          <a:prstGeom prst="rect">
            <a:avLst/>
          </a:prstGeom>
          <a:noFill/>
        </p:spPr>
        <p:txBody>
          <a:bodyPr wrap="square">
            <a:spAutoFit/>
          </a:bodyPr>
          <a:lstStyle/>
          <a:p>
            <a:pPr>
              <a:defRPr sz="1500" b="1">
                <a:solidFill>
                  <a:srgbClr val="06B6D4"/>
                </a:solidFill>
                <a:latin typeface="Trebuchet MS"/>
              </a:defRPr>
            </a:pPr>
            <a:r>
              <a:t>CLOUD BOOSTERS &amp; INTEGRATIONS</a:t>
            </a:r>
          </a:p>
          <a:p>
            <a:pPr>
              <a:defRPr sz="1200" b="1">
                <a:solidFill>
                  <a:srgbClr val="FFFFFF"/>
                </a:solidFill>
                <a:latin typeface="Calibri"/>
              </a:defRPr>
            </a:pPr>
            <a:r>
              <a:t>$199 - $499 / month</a:t>
            </a:r>
          </a:p>
          <a:p>
            <a:br/>
            <a:pPr>
              <a:defRPr sz="1000">
                <a:solidFill>
                  <a:srgbClr val="E2E8F0"/>
                </a:solidFill>
                <a:latin typeface="Calibri"/>
              </a:defRPr>
            </a:pPr>
            <a:r>
              <a:t>• SIEM Bi-Directional Bridge ($199/mo): Forward parsed Drain3 templates and scored anomaly events directly into Splunk or Datadog.</a:t>
            </a:r>
          </a:p>
          <a:p>
            <a:br/>
            <a:pPr>
              <a:defRPr sz="1000">
                <a:solidFill>
                  <a:srgbClr val="E2E8F0"/>
                </a:solidFill>
                <a:latin typeface="Calibri"/>
              </a:defRPr>
            </a:pPr>
            <a:r>
              <a:t>• Long-Term Cold Storage Compactor ($299/mo): S3 and GCS Parquet archiving with 99% query compression and continuous indexing.</a:t>
            </a:r>
          </a:p>
          <a:p>
            <a:br/>
            <a:pPr>
              <a:defRPr sz="1000">
                <a:solidFill>
                  <a:srgbClr val="E2E8F0"/>
                </a:solidFill>
                <a:latin typeface="Calibri"/>
              </a:defRPr>
            </a:pPr>
            <a:r>
              <a:t>• CloudWatch &amp; GCP Logging Sinks ($199/mo): Native 1-click cloud provider audit log collectors with zero manual setup.</a:t>
            </a:r>
          </a:p>
          <a:p>
            <a:br/>
            <a:pPr>
              <a:defRPr sz="1000">
                <a:solidFill>
                  <a:srgbClr val="E2E8F0"/>
                </a:solidFill>
                <a:latin typeface="Calibri"/>
              </a:defRPr>
            </a:pPr>
            <a:r>
              <a:t>• High-Frequency Anomaly Retraining Packs ($499/mo): Hourly adaptive model updating for rapidly evolving microservice clusters.</a:t>
            </a:r>
          </a:p>
        </p:txBody>
      </p:sp>
      <p:sp>
        <p:nvSpPr>
          <p:cNvPr id="9" name="Rounded Rectangle 8"/>
          <p:cNvSpPr/>
          <p:nvPr/>
        </p:nvSpPr>
        <p:spPr>
          <a:xfrm>
            <a:off x="6245352" y="1828800"/>
            <a:ext cx="5212080" cy="3931920"/>
          </a:xfrm>
          <a:prstGeom prst="roundRect">
            <a:avLst/>
          </a:prstGeom>
          <a:solidFill>
            <a:srgbClr val="161F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2011680"/>
            <a:ext cx="4663440" cy="3566160"/>
          </a:xfrm>
          <a:prstGeom prst="rect">
            <a:avLst/>
          </a:prstGeom>
          <a:noFill/>
        </p:spPr>
        <p:txBody>
          <a:bodyPr wrap="square">
            <a:spAutoFit/>
          </a:bodyPr>
          <a:lstStyle/>
          <a:p>
            <a:pPr>
              <a:defRPr sz="1500" b="1">
                <a:solidFill>
                  <a:srgbClr val="F59E0B"/>
                </a:solidFill>
                <a:latin typeface="Trebuchet MS"/>
              </a:defRPr>
            </a:pPr>
            <a:r>
              <a:t>SRE ADVISORY &amp; PROFESSIONAL SERVICES</a:t>
            </a:r>
          </a:p>
          <a:p>
            <a:pPr>
              <a:defRPr sz="1200" b="1">
                <a:solidFill>
                  <a:srgbClr val="FFFFFF"/>
                </a:solidFill>
                <a:latin typeface="Calibri"/>
              </a:defRPr>
            </a:pPr>
            <a:r>
              <a:t>$2,500 - $10,000 / engagement</a:t>
            </a:r>
          </a:p>
          <a:p>
            <a:br/>
            <a:pPr>
              <a:defRPr sz="1000">
                <a:solidFill>
                  <a:srgbClr val="E2E8F0"/>
                </a:solidFill>
                <a:latin typeface="Calibri"/>
              </a:defRPr>
            </a:pPr>
            <a:r>
              <a:t>• Custom Domain Anomaly Calibration ($2,500): Tuning Isolation Forest contamination and hyper-parameters for proprietary protocols.</a:t>
            </a:r>
          </a:p>
          <a:p>
            <a:br/>
            <a:pPr>
              <a:defRPr sz="1000">
                <a:solidFill>
                  <a:srgbClr val="E2E8F0"/>
                </a:solidFill>
                <a:latin typeface="Calibri"/>
              </a:defRPr>
            </a:pPr>
            <a:r>
              <a:t>• Chaos Engineering Readiness Audit ($5,000): Simulated failure game days to validate resilience and verify root-cause detection speed.</a:t>
            </a:r>
          </a:p>
          <a:p>
            <a:br/>
            <a:pPr>
              <a:defRPr sz="1000">
                <a:solidFill>
                  <a:srgbClr val="E2E8F0"/>
                </a:solidFill>
                <a:latin typeface="Calibri"/>
              </a:defRPr>
            </a:pPr>
            <a:r>
              <a:t>• Production Cutover Assistance ($7,500): 7-day guided rollout with zero-downtime migration runbooks and disaster recovery setup.</a:t>
            </a:r>
          </a:p>
          <a:p>
            <a:br/>
            <a:pPr>
              <a:defRPr sz="1000">
                <a:solidFill>
                  <a:srgbClr val="E2E8F0"/>
                </a:solidFill>
                <a:latin typeface="Calibri"/>
              </a:defRPr>
            </a:pPr>
            <a:r>
              <a:t>• Dedicated Technical Account Manager ($10,000/yr): Named distributed systems architect with priority 1-hour SLA response.</a:t>
            </a:r>
          </a:p>
        </p:txBody>
      </p:sp>
      <p:sp>
        <p:nvSpPr>
          <p:cNvPr id="11" name="Rounded Rectangle 10"/>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$199-$499 Recurring Add-ons | $2.5k-$10k High-Margin Services | Expand Net Revenue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10B981"/>
                </a:solidFill>
                <a:latin typeface="Consolas"/>
              </a:defRPr>
            </a:pPr>
            <a:r>
              <a:t>ROADMAP</a:t>
            </a:r>
          </a:p>
        </p:txBody>
      </p:sp>
      <p:sp>
        <p:nvSpPr>
          <p:cNvPr id="4" name="TextBox 3"/>
          <p:cNvSpPr txBox="1"/>
          <p:nvPr/>
        </p:nvSpPr>
        <p:spPr>
          <a:xfrm>
            <a:off x="7772400" y="365760"/>
            <a:ext cx="3657600" cy="365760"/>
          </a:xfrm>
          <a:prstGeom prst="rect">
            <a:avLst/>
          </a:prstGeom>
          <a:noFill/>
        </p:spPr>
        <p:txBody>
          <a:bodyPr wrap="none">
            <a:spAutoFit/>
          </a:bodyPr>
          <a:lstStyle/>
          <a:p>
            <a:pPr algn="r">
              <a:defRPr sz="1000">
                <a:solidFill>
                  <a:srgbClr val="94A3B8"/>
                </a:solidFill>
                <a:latin typeface="Consolas"/>
              </a:defRPr>
            </a:pPr>
            <a:r>
              <a:t>Template: FlutterForecast #16 (Future Plans)</a:t>
            </a:r>
          </a:p>
        </p:txBody>
      </p:sp>
      <p:sp>
        <p:nvSpPr>
          <p:cNvPr id="5" name="TextBox 4"/>
          <p:cNvSpPr txBox="1"/>
          <p:nvPr/>
        </p:nvSpPr>
        <p:spPr>
          <a:xfrm>
            <a:off x="731520" y="685800"/>
            <a:ext cx="10698480" cy="548640"/>
          </a:xfrm>
          <a:prstGeom prst="rect">
            <a:avLst/>
          </a:prstGeom>
          <a:noFill/>
        </p:spPr>
        <p:txBody>
          <a:bodyPr wrap="square">
            <a:spAutoFit/>
          </a:bodyPr>
          <a:lstStyle/>
          <a:p>
            <a:pPr>
              <a:defRPr sz="2400" b="1">
                <a:solidFill>
                  <a:srgbClr val="FFFFFF"/>
                </a:solidFill>
                <a:latin typeface="Trebuchet MS"/>
              </a:defRPr>
            </a:pPr>
            <a:r>
              <a:t>Future Roadmap &amp; Innovation Horizon</a:t>
            </a:r>
          </a:p>
        </p:txBody>
      </p:sp>
      <p:sp>
        <p:nvSpPr>
          <p:cNvPr id="6" name="TextBox 5"/>
          <p:cNvSpPr txBox="1"/>
          <p:nvPr/>
        </p:nvSpPr>
        <p:spPr>
          <a:xfrm>
            <a:off x="731520" y="1234440"/>
            <a:ext cx="10698480" cy="365760"/>
          </a:xfrm>
          <a:prstGeom prst="rect">
            <a:avLst/>
          </a:prstGeom>
          <a:noFill/>
        </p:spPr>
        <p:txBody>
          <a:bodyPr wrap="square">
            <a:spAutoFit/>
          </a:bodyPr>
          <a:lstStyle/>
          <a:p>
            <a:pPr>
              <a:defRPr sz="1300" i="1">
                <a:solidFill>
                  <a:srgbClr val="06B6D4"/>
                </a:solidFill>
                <a:latin typeface="Trebuchet MS"/>
              </a:defRPr>
            </a:pPr>
            <a:r>
              <a:t>The Next Frontier: Autonomous Self-Healing Observability</a:t>
            </a:r>
          </a:p>
        </p:txBody>
      </p:sp>
      <p:sp>
        <p:nvSpPr>
          <p:cNvPr id="7" name="Rounded Rectangle 6"/>
          <p:cNvSpPr/>
          <p:nvPr/>
        </p:nvSpPr>
        <p:spPr>
          <a:xfrm>
            <a:off x="731520" y="1828800"/>
            <a:ext cx="3383280" cy="3931920"/>
          </a:xfrm>
          <a:prstGeom prst="roundRect">
            <a:avLst/>
          </a:prstGeom>
          <a:solidFill>
            <a:srgbClr val="161F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03120"/>
            <a:ext cx="2834640" cy="3474720"/>
          </a:xfrm>
          <a:prstGeom prst="rect">
            <a:avLst/>
          </a:prstGeom>
          <a:noFill/>
        </p:spPr>
        <p:txBody>
          <a:bodyPr wrap="square">
            <a:spAutoFit/>
          </a:bodyPr>
          <a:lstStyle/>
          <a:p>
            <a:pPr>
              <a:defRPr sz="1400" b="1">
                <a:solidFill>
                  <a:srgbClr val="06B6D4"/>
                </a:solidFill>
                <a:latin typeface="Consolas"/>
              </a:defRPr>
            </a:pPr>
            <a:r>
              <a:t>Q1 2027</a:t>
            </a:r>
          </a:p>
          <a:p>
            <a:pPr>
              <a:defRPr sz="1600" b="1">
                <a:solidFill>
                  <a:srgbClr val="FFFFFF"/>
                </a:solidFill>
                <a:latin typeface="Trebuchet MS"/>
              </a:defRPr>
            </a:pPr>
            <a:r>
              <a:t>eBPF Kernel-Level Tracing</a:t>
            </a:r>
          </a:p>
          <a:p>
            <a:br/>
            <a:pPr>
              <a:defRPr sz="1100">
                <a:solidFill>
                  <a:srgbClr val="E2E8F0"/>
                </a:solidFill>
                <a:latin typeface="Calibri"/>
              </a:defRPr>
            </a:pPr>
            <a:r>
              <a:t>• Zero-overhead distributed tracing directly at the Linux socket layer.</a:t>
            </a:r>
            <a:br/>
            <a:br/>
            <a:r>
              <a:t>• Bypasses application code modification and language SDK agents.</a:t>
            </a:r>
            <a:br/>
            <a:br/>
            <a:r>
              <a:t>• Correlates network latency, packet loss, and gRPC payloads automatically.</a:t>
            </a:r>
          </a:p>
        </p:txBody>
      </p:sp>
      <p:sp>
        <p:nvSpPr>
          <p:cNvPr id="9" name="Rounded Rectangle 8"/>
          <p:cNvSpPr/>
          <p:nvPr/>
        </p:nvSpPr>
        <p:spPr>
          <a:xfrm>
            <a:off x="4389120" y="1828800"/>
            <a:ext cx="3383280" cy="3931920"/>
          </a:xfrm>
          <a:prstGeom prst="roundRect">
            <a:avLst/>
          </a:prstGeom>
          <a:solidFill>
            <a:srgbClr val="161F30"/>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103120"/>
            <a:ext cx="2834640" cy="3474720"/>
          </a:xfrm>
          <a:prstGeom prst="rect">
            <a:avLst/>
          </a:prstGeom>
          <a:noFill/>
        </p:spPr>
        <p:txBody>
          <a:bodyPr wrap="square">
            <a:spAutoFit/>
          </a:bodyPr>
          <a:lstStyle/>
          <a:p>
            <a:pPr>
              <a:defRPr sz="1400" b="1">
                <a:solidFill>
                  <a:srgbClr val="8B5CF6"/>
                </a:solidFill>
                <a:latin typeface="Consolas"/>
              </a:defRPr>
            </a:pPr>
            <a:r>
              <a:t>Q2 2027</a:t>
            </a:r>
          </a:p>
          <a:p>
            <a:pPr>
              <a:defRPr sz="1600" b="1">
                <a:solidFill>
                  <a:srgbClr val="FFFFFF"/>
                </a:solidFill>
                <a:latin typeface="Trebuchet MS"/>
              </a:defRPr>
            </a:pPr>
            <a:r>
              <a:t>GenAI Post-Mortems &amp; PRs</a:t>
            </a:r>
          </a:p>
          <a:p>
            <a:br/>
            <a:pPr>
              <a:defRPr sz="1100">
                <a:solidFill>
                  <a:srgbClr val="E2E8F0"/>
                </a:solidFill>
                <a:latin typeface="Calibri"/>
              </a:defRPr>
            </a:pPr>
            <a:r>
              <a:t>• Autonomous LLM synthesis of anomaly windows into executive incident reports.</a:t>
            </a:r>
            <a:br/>
            <a:br/>
            <a:r>
              <a:t>• Automatically generates GitHub Pull Requests suggesting bug fixes or config tweaks.</a:t>
            </a:r>
            <a:br/>
            <a:br/>
            <a:r>
              <a:t>• Slashes incident post-mortem drafting from 4 hours to 30 seconds.</a:t>
            </a:r>
          </a:p>
        </p:txBody>
      </p:sp>
      <p:sp>
        <p:nvSpPr>
          <p:cNvPr id="11" name="Rounded Rectangle 10"/>
          <p:cNvSpPr/>
          <p:nvPr/>
        </p:nvSpPr>
        <p:spPr>
          <a:xfrm>
            <a:off x="8046720" y="1828800"/>
            <a:ext cx="3383280" cy="3931920"/>
          </a:xfrm>
          <a:prstGeom prst="roundRect">
            <a:avLst/>
          </a:prstGeom>
          <a:solidFill>
            <a:srgbClr val="161F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2103120"/>
            <a:ext cx="2834640" cy="3474720"/>
          </a:xfrm>
          <a:prstGeom prst="rect">
            <a:avLst/>
          </a:prstGeom>
          <a:noFill/>
        </p:spPr>
        <p:txBody>
          <a:bodyPr wrap="square">
            <a:spAutoFit/>
          </a:bodyPr>
          <a:lstStyle/>
          <a:p>
            <a:pPr>
              <a:defRPr sz="1400" b="1">
                <a:solidFill>
                  <a:srgbClr val="10B981"/>
                </a:solidFill>
                <a:latin typeface="Consolas"/>
              </a:defRPr>
            </a:pPr>
            <a:r>
              <a:t>Q3 2027</a:t>
            </a:r>
          </a:p>
          <a:p>
            <a:pPr>
              <a:defRPr sz="1600" b="1">
                <a:solidFill>
                  <a:srgbClr val="FFFFFF"/>
                </a:solidFill>
                <a:latin typeface="Trebuchet MS"/>
              </a:defRPr>
            </a:pPr>
            <a:r>
              <a:t>Autonomous Self-Healing</a:t>
            </a:r>
          </a:p>
          <a:p>
            <a:br/>
            <a:pPr>
              <a:defRPr sz="1100">
                <a:solidFill>
                  <a:srgbClr val="E2E8F0"/>
                </a:solidFill>
                <a:latin typeface="Calibri"/>
              </a:defRPr>
            </a:pPr>
            <a:r>
              <a:t>• Closed-loop Kubernetes remediation when anomaly confidence exceeds 95%.</a:t>
            </a:r>
            <a:br/>
            <a:br/>
            <a:r>
              <a:t>• Automatically triggers pod restarts, traffic shedding, or circuit breaking.</a:t>
            </a:r>
            <a:br/>
            <a:br/>
            <a:r>
              <a:t>• Eliminates human on-call fatigue for recurring, known failure signatures.</a:t>
            </a:r>
          </a:p>
        </p:txBody>
      </p:sp>
      <p:sp>
        <p:nvSpPr>
          <p:cNvPr id="13" name="Rounded Rectangle 12"/>
          <p:cNvSpPr/>
          <p:nvPr/>
        </p:nvSpPr>
        <p:spPr>
          <a:xfrm>
            <a:off x="731520" y="6035040"/>
            <a:ext cx="10728655" cy="457200"/>
          </a:xfrm>
          <a:prstGeom prst="roundRect">
            <a:avLst/>
          </a:prstGeom>
          <a:solidFill>
            <a:srgbClr val="0F172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6053328"/>
            <a:ext cx="10332720" cy="411480"/>
          </a:xfrm>
          <a:prstGeom prst="rect">
            <a:avLst/>
          </a:prstGeom>
          <a:noFill/>
        </p:spPr>
        <p:txBody>
          <a:bodyPr wrap="none" anchor="ctr">
            <a:spAutoFit/>
          </a:bodyPr>
          <a:lstStyle/>
          <a:p>
            <a:pPr>
              <a:defRPr sz="1000" b="1">
                <a:solidFill>
                  <a:srgbClr val="10B981"/>
                </a:solidFill>
                <a:latin typeface="Consolas"/>
              </a:defRPr>
            </a:pPr>
            <a:r>
              <a:t>⚡ KEY METRICS &amp; BENCHMARKS:  Zero-Code eBPF Tracing | Automated GenAI Post-Mortems | Closed-Loop Auto-Remediation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1097280"/>
          </a:xfrm>
          <a:prstGeom prst="rect">
            <a:avLst/>
          </a:prstGeom>
          <a:noFill/>
        </p:spPr>
        <p:txBody>
          <a:bodyPr wrap="none">
            <a:spAutoFit/>
          </a:bodyPr>
          <a:lstStyle/>
          <a:p>
            <a:pPr algn="ctr">
              <a:defRPr sz="5600" b="1">
                <a:solidFill>
                  <a:srgbClr val="FFFFFF"/>
                </a:solidFill>
                <a:latin typeface="Trebuchet MS"/>
              </a:defRPr>
            </a:pPr>
            <a:r>
              <a:t>Thank You!</a:t>
            </a:r>
          </a:p>
        </p:txBody>
      </p:sp>
      <p:sp>
        <p:nvSpPr>
          <p:cNvPr id="4" name="Rounded Rectangle 3"/>
          <p:cNvSpPr/>
          <p:nvPr/>
        </p:nvSpPr>
        <p:spPr>
          <a:xfrm>
            <a:off x="3108960" y="2377440"/>
            <a:ext cx="5943600" cy="594360"/>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0" y="2423160"/>
            <a:ext cx="5943600" cy="457200"/>
          </a:xfrm>
          <a:prstGeom prst="rect">
            <a:avLst/>
          </a:prstGeom>
          <a:noFill/>
        </p:spPr>
        <p:txBody>
          <a:bodyPr wrap="none">
            <a:spAutoFit/>
          </a:bodyPr>
          <a:lstStyle/>
          <a:p>
            <a:pPr algn="ctr">
              <a:defRPr sz="1400" b="1">
                <a:solidFill>
                  <a:srgbClr val="FFFFFF"/>
                </a:solidFill>
                <a:latin typeface="Trebuchet MS"/>
              </a:defRPr>
            </a:pPr>
            <a:r>
              <a:t>Change starts with the steps we take today!</a:t>
            </a:r>
          </a:p>
        </p:txBody>
      </p:sp>
      <p:sp>
        <p:nvSpPr>
          <p:cNvPr id="6" name="TextBox 5"/>
          <p:cNvSpPr txBox="1"/>
          <p:nvPr/>
        </p:nvSpPr>
        <p:spPr>
          <a:xfrm>
            <a:off x="1371600" y="3108960"/>
            <a:ext cx="9448495" cy="457200"/>
          </a:xfrm>
          <a:prstGeom prst="rect">
            <a:avLst/>
          </a:prstGeom>
          <a:noFill/>
        </p:spPr>
        <p:txBody>
          <a:bodyPr wrap="none">
            <a:spAutoFit/>
          </a:bodyPr>
          <a:lstStyle/>
          <a:p>
            <a:pPr algn="ctr">
              <a:defRPr sz="1600">
                <a:solidFill>
                  <a:srgbClr val="06B6D4"/>
                </a:solidFill>
                <a:latin typeface="Calibri"/>
              </a:defRPr>
            </a:pPr>
            <a:r>
              <a:t>Empower your SREs. Eliminate alert noise. Tame microservice chaos.</a:t>
            </a:r>
          </a:p>
        </p:txBody>
      </p:sp>
      <p:sp>
        <p:nvSpPr>
          <p:cNvPr id="7" name="Rounded Rectangle 6"/>
          <p:cNvSpPr/>
          <p:nvPr/>
        </p:nvSpPr>
        <p:spPr>
          <a:xfrm>
            <a:off x="2286000" y="3840480"/>
            <a:ext cx="7619695" cy="2011680"/>
          </a:xfrm>
          <a:prstGeom prst="roundRect">
            <a:avLst/>
          </a:prstGeom>
          <a:solidFill>
            <a:srgbClr val="161F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0" y="3977639"/>
            <a:ext cx="7040880" cy="1737360"/>
          </a:xfrm>
          <a:prstGeom prst="rect">
            <a:avLst/>
          </a:prstGeom>
          <a:noFill/>
        </p:spPr>
        <p:txBody>
          <a:bodyPr wrap="square">
            <a:spAutoFit/>
          </a:bodyPr>
          <a:lstStyle/>
          <a:p>
            <a:pPr>
              <a:defRPr sz="1200" b="1">
                <a:solidFill>
                  <a:srgbClr val="10B981"/>
                </a:solidFill>
                <a:latin typeface="Consolas"/>
              </a:defRPr>
            </a:pPr>
            <a:r>
              <a:t>PROJECT RESOURCES &amp; CONTACT:</a:t>
            </a:r>
          </a:p>
          <a:p>
            <a:pPr>
              <a:defRPr sz="1100">
                <a:solidFill>
                  <a:srgbClr val="E2E8F0"/>
                </a:solidFill>
                <a:latin typeface="Calibri"/>
              </a:defRPr>
            </a:pPr>
            <a:r>
              <a:t>• GitHub Repository: github.com/meloshaj/LogSentinel</a:t>
            </a:r>
            <a:br/>
            <a:r>
              <a:t>• License: Apache 2.0 Open Source</a:t>
            </a:r>
            <a:br/>
            <a:r>
              <a:t>• Documentation: /docs (Runbooks, Feature Extraction, Architecture ADRs)</a:t>
            </a:r>
            <a:br/>
            <a:r>
              <a:t>• Team Contact: Melos Hajrullahu (hajrullahumelos@gmail.com)</a:t>
            </a:r>
            <a:br/>
            <a:r>
              <a:t>• Ready to run: docker compose -f docker-compose.demo.yml up --build -d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